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CONTEXT ENGINEERING WITH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1F5F9"/>
                </a:solidFill>
                <a:latin typeface="Segoe UI"/>
              </a:defRPr>
            </a:pPr>
            <a:r>
              <a:t>AI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818CF8"/>
                </a:solidFill>
                <a:latin typeface="Segoe UI"/>
              </a:defRPr>
            </a:pPr>
            <a:r>
              <a:t>From Consumer to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Accessing built-in memory in SaaS products, building agents with</a:t>
            </a:r>
            <a:br/>
            <a:r>
              <a:t>Copilot Studio, and implementing code-first memory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Tim Warner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Microsoft MVP | Pluralsight Author | O'Reilly Instructor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© 2026 Tim Warner | techtrainertim.com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Three layers of AI memory mastery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93776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LAYER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Segoe UI"/>
              </a:defRPr>
            </a:pPr>
            <a:r>
              <a:t>SaaS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Built-in memory features in consumer AI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ChatGPT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Claude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Gemini Saved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M365 Copilot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463040"/>
            <a:ext cx="3566160" cy="493776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LAYER TWO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Segoe UI"/>
              </a:defRPr>
            </a:pPr>
            <a:r>
              <a:t>Agent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Low-code agent builders with state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Copilot Studio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Knowledge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Dataverse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MCP Resources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463040"/>
            <a:ext cx="3566160" cy="493776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LAYER THREE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19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Segoe UI"/>
              </a:defRPr>
            </a:pPr>
            <a:r>
              <a:t>Code-First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Full control with LangGraph &amp; custom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LangMem Tooling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Vector Databases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Checkpointers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• Custom Schemas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The Four Types of AI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Inspired by human cognitive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⚡ Working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Context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Active tokens the model processes right now. Limited capacity (128K-2M tokens). Resets each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Human analog: What you're thinking about right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4864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📚 Episodic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Conversation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Past interactions stored with timestamps. What questions were asked, how model responded.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Human analog: Your autobiographical memories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🧠 Semantic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Knowledge Base /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Facts and concepts stored in vector databases. Retrieved via similarity search.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Human analog: General world knowledge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931920"/>
            <a:ext cx="54864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🔧 Procedural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Learned Behaviors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800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System prompts, custom instructions, learned patterns. How the agent behaves.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Human analog: Riding a bike, typing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The Context Window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Understanding why AI "forgets" and how memory solves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CONTEXT WINDOW BREAKDOWN (200K TOKENS)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743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201168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2011680"/>
            <a:ext cx="22860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2011680"/>
            <a:ext cx="54864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System Prompt (5K)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137160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Conversation History (variable)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8328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Retrieved Context /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137160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Output Buffer (8K)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20"/>
            <a:ext cx="502920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Effective Context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Segoe UI"/>
              </a:defRPr>
            </a:pPr>
            <a:r>
              <a:t>Max - System - Output -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= 200K - 5K - 8K - 10K = 177K usable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Four Types of Context Loss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530352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Window Overflow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Oldest messages pushed out as new ones arrive. Happens in long conversations.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926080"/>
            <a:ext cx="530352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Session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918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Complete reset between sessions. User returns next day - AI remembers nothing.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23360"/>
            <a:ext cx="530352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Segoe UI"/>
              </a:defRPr>
            </a:pPr>
            <a:r>
              <a:t>Attention Dilution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89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Context exists but gets "lost in the noise." Model focuses on wrong parts.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120640"/>
            <a:ext cx="530352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212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Compression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86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Summarization loses critical details. Trade-off between length and fidelity.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ChatGPT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A37F"/>
                </a:solidFill>
                <a:latin typeface="Segoe UI"/>
              </a:defRPr>
            </a:pPr>
            <a:r>
              <a:t>Settings → Personalization →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A37F"/>
                </a:solidFill>
                <a:latin typeface="Segoe UI"/>
              </a:defRPr>
            </a:pPr>
            <a:r>
              <a:t>SAVED MEMORIES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Explicit facts you've shared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Name, preferences, profession, project details. Created automatically or by saying "Remember this..."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86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Segoe UI"/>
              </a:defRPr>
            </a:pPr>
            <a:r>
              <a:t>CHAT HISTORY (PLUS/PRO)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Insights from past conversations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Food preferences, work context, communication style. Automatically synthesized from conversation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MANAGING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View all memories in Settings → Manage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Delete specific memories via ⋯ menu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Say "forget that" to remove 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Temporary Chat for incognito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FREE VS PLUS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160520"/>
            <a:ext cx="237744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26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16K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Saved Memories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16052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A37F"/>
                </a:solidFill>
                <a:latin typeface="Segoe UI"/>
              </a:defRPr>
            </a:pPr>
            <a:r>
              <a:t>PLUS $20/mo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32K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800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+ Chat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Note: Deleting a chat does NOT delete saved memories from that conversation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Claude.ai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97706"/>
                </a:solidFill>
                <a:latin typeface="Segoe UI"/>
              </a:defRPr>
            </a:pPr>
            <a:r>
              <a:t>Projects &amp; CLAUDE.md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Workspace-scoped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Upload documents, set custom instructions, maintain persistent context across conversations within a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Pro/Team: Up to 200K token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4864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CLAUDE.MD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Developer memory for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Place in project root or ~/.claude/ for persistent instructions. Loaded automatically on every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Segoe UI"/>
              </a:defRPr>
            </a:pPr>
            <a:r>
              <a:t>~/.claude/CLAUDE.md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86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PHILOSOPHY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Claude prioritizes explicit context over implicit learning. You control exactly what Claude remembers through project files and instructions.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0040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CONTEXT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Project Knowledge: PDFs, docs,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Custom Instructions: Persona,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MCP Servers: External tool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Extended Thinking: Deep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No automatic cross-session memory — context is explicitly scoped to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Gemini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85F4"/>
                </a:solidFill>
                <a:latin typeface="Segoe UI"/>
              </a:defRPr>
            </a:pPr>
            <a:r>
              <a:t>Settings → Extensions → Saved Info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Segoe UI"/>
              </a:defRPr>
            </a:pPr>
            <a:r>
              <a:t>SAVED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Explicit user 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Facts you've told Gemini: dietary restrictions, language preferences, location info.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54864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A853"/>
                </a:solidFill>
                <a:latin typeface="Segoe UI"/>
              </a:defRPr>
            </a:pPr>
            <a:r>
              <a:t>AUTOMATIC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Learned from conversations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Gemini synthesizes patterns from your chats automatically. Requires opt-in.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54864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C05"/>
                </a:solidFill>
                <a:latin typeface="Segoe UI"/>
              </a:defRPr>
            </a:pPr>
            <a:r>
              <a:t>GEMS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Custom AI personas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Create specialized assistants with persistent instructions. Like GPTs for Gemini.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5486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4335"/>
                </a:solidFill>
                <a:latin typeface="Segoe UI"/>
              </a:defRPr>
            </a:pPr>
            <a:r>
              <a:t>PERSONAL INTELLIGENCE (LABS)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Deep Google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Connect Gmail, Drive, Calendar. Gemini reasons across your entire Google ecosystem.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486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CONTEXT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39"/>
            <a:ext cx="246888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285F4"/>
                </a:solidFill>
                <a:latin typeface="Segoe UI"/>
              </a:defRPr>
            </a:pPr>
            <a:r>
              <a:t>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tokens standard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749039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Segoe UI"/>
              </a:defRPr>
            </a:pPr>
            <a:r>
              <a:t>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tokens (1.5 Pro)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Largest context window of any major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Memory features vary by region — some require Google One AI Premium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Segoe UI"/>
              </a:defRPr>
            </a:pPr>
            <a:r>
              <a:t>Microsoft 365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Work IQ = Data + Memory +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Work IQ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Data (Microsoft Graph)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Emails, files, chats, meetings, calendar. Everything in your M365 tenant.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CF2"/>
                </a:solidFill>
                <a:latin typeface="Segoe UI"/>
              </a:defRPr>
            </a:pPr>
            <a:r>
              <a:t>Memory (Semantic Index)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Vector embeddings of your work content. Powers cross-application recall.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Inference (LLM Reasoning)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GPT-4 class models understand context and generate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59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Web Grounding (Bing)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web search augments enterprise knowledge.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DECLARATIVE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Custom Copilots with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Define instructions, knowledge sources, and capabilities in a manifest. Agent persists context across interactions.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declarativeAgent.json → Copilot Studio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5760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ENTERPRISE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Respects permissions (RBAC)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Data stays in tenant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Audit logging for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✓ Admin controls via Purview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Requires M365 Copilot license ($30/user/month) — Semantic Index builds over 24-48 hours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Segoe UI"/>
              </a:defRPr>
            </a:pPr>
            <a:r>
              <a:t>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42774"/>
                </a:solidFill>
                <a:latin typeface="Segoe UI"/>
              </a:defRPr>
            </a:pPr>
            <a:r>
              <a:t>Low-Code Agent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Variable Types (State Management)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Topic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45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Topic.varName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Scoped to a single topic. Reset when topic 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39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Global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97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Global.varName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Persist across topics within a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System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4903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System.User.*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Built-in: User.DisplayName, Activity.Channel, Conversation.Id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9159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Segoe UI"/>
              </a:defRPr>
            </a:pPr>
            <a:r>
              <a:t>Environment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800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Env.varName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Configured in Power Platform. Secrets, endpoints, configs.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42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42774"/>
                </a:solidFill>
                <a:latin typeface="Segoe UI"/>
              </a:defRPr>
            </a:pPr>
            <a:r>
              <a:t>KNOWLEDGE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SharePoint sites &amp; libraries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Dataverse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Public websites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Uploaded documents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383280"/>
            <a:ext cx="5486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MCP RESOURCES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20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PREVIEW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40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Model Context 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Connect external tools and data sources via MCP servers. Enables real-time API access.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120640"/>
            <a:ext cx="5486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CF2"/>
                </a:solidFill>
                <a:latin typeface="Segoe UI"/>
              </a:defRPr>
            </a:pPr>
            <a:r>
              <a:t>DATAVERSE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77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Persist agent memory to Dataverse tables. Query history, user preferences, conversation state.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copilotstudio.microsoft.com — Agent memory persists via Dataverse &amp; Power Platform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LAYER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Code-First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Full control with LangGraph &amp; LangMem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When You Need Code-First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Custom Memory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Define exactly what gets stored. User profiles, entity relationships, temporal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79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Multi-Turn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Complex workflows that span multiple interactions. Checkpointing at every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Cross-Session 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Resume conversations days later. Persistent vector stores and thread management.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57800"/>
            <a:ext cx="5486400" cy="914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Segoe UI"/>
              </a:defRPr>
            </a:pPr>
            <a:r>
              <a:t>Production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PostgreSQL, Redis, custom backends. Enterprise-grade persistence and recovery.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5486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LANGCHAIN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86000"/>
            <a:ext cx="50292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🔄 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97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Orchestration + Checkpointing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383280"/>
            <a:ext cx="50292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🧠 LangMem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Memory Tools + Semantic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480560"/>
            <a:ext cx="50292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📊 Vector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92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Chroma, Pinecone, Postgres+pgvector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669280"/>
            <a:ext cx="50292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742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pip install langgraph langmem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LangGraph Checkpointers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Persistence for stateful agent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urier New"/>
              </a:defRPr>
            </a:pPr>
            <a:r>
              <a:t>from langgraph.checkpoint.memory import MemorySaver</a:t>
            </a:r>
            <a:br/>
            <a:r>
              <a:t>from langgraph.graph import StateGraph</a:t>
            </a:r>
            <a:br/>
            <a:br/>
            <a:r>
              <a:t># Create checkpointer</a:t>
            </a:r>
            <a:br/>
            <a:r>
              <a:t>checkpointer = MemorySaver()</a:t>
            </a:r>
            <a:br/>
            <a:br/>
            <a:r>
              <a:t># Compile graph with persistence</a:t>
            </a:r>
            <a:br/>
            <a:r>
              <a:t>graph = workflow.compile(checkpointer=checkpointer)</a:t>
            </a:r>
            <a:br/>
            <a:br/>
            <a:r>
              <a:t># Invoke with thread_id for continuity</a:t>
            </a:r>
            <a:br/>
            <a:r>
              <a:t>result = graph.invoke(inputs, config={"configurable": {"thread_id": "user-123"}})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36118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MEMORYSAVER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In-process memory. Fast, no setup. Lost on restart.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✓ Local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566160"/>
            <a:ext cx="36118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POSTGRESSAVER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9776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Durable, scalable. Full ACID. Async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✓ Enterprise workloads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566160"/>
            <a:ext cx="36118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Segoe UI"/>
              </a:defRPr>
            </a:pPr>
            <a:r>
              <a:t>REDISSAVER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776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High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Sub-millisecond. TTL expiry. Distributed caching.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✓ Real-time apps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💡 thread_id is the magic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Same thread_id = resume conversation. Different thread_id = fresh start. Namespace threads per user for multi-tenant apps.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LangMem Memory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Agent-callable memory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CREATE_MANAGE_MEMORY_TOOL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Store &amp; Update Memories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Agent decides what to remember. Creates, updates, or deletes memory entries based on conversation.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ourier New"/>
              </a:defRPr>
            </a:pPr>
            <a:r>
              <a:t>manage_memory(action="create", content="User prefers dark mode")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486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CREATE_SEARCH_MEMORY_TOOL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Semantic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Query memories by meaning, not keywords. Vector similarity search across all stored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CF6"/>
                </a:solidFill>
                <a:latin typeface="Courier New"/>
              </a:defRPr>
            </a:pPr>
            <a:r>
              <a:t>search_memory(query="What does the user like?")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urier New"/>
              </a:defRPr>
            </a:pPr>
            <a:r>
              <a:t>from langmem import create_manage_memory_tool</a:t>
            </a:r>
            <a:br/>
            <a:r>
              <a:t>from langmem import create_search_memory_tool</a:t>
            </a:r>
            <a:br/>
            <a:br/>
            <a:r>
              <a:t># Create tools with namespace</a:t>
            </a:r>
            <a:br/>
            <a:r>
              <a:t>manage = create_manage_memory_tool(</a:t>
            </a:r>
            <a:br/>
            <a:r>
              <a:t>  namespace=("user", user_id)</a:t>
            </a:r>
            <a:br/>
            <a:r>
              <a:t>)</a:t>
            </a:r>
            <a:br/>
            <a:r>
              <a:t>search = create_search_memory_tool(</a:t>
            </a:r>
            <a:br/>
            <a:r>
              <a:t>  namespace=("user", user_id)</a:t>
            </a:r>
            <a:br/>
            <a: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NAMESPACING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Isolate memory by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user_id — Per-user memories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org_id — Shared team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project_id — Project-scoped 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LangMem uses InMemoryStore by default — swap for persistent backends in production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How the pieces fit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2860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Context Assembly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28600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2860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4173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60320"/>
            <a:ext cx="2743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⚡ Working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08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Current context window. System prompt + conversation. LangGraph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560320"/>
            <a:ext cx="2743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39" y="2697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📚 Episodic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3108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Past conversations. Checkpointed with thread_id. PostgresSaver backends.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560320"/>
            <a:ext cx="2743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🧠 Semantic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08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Facts &amp; knowledge. Vector DB (Chroma, Pinecone). LangMem tools.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560320"/>
            <a:ext cx="2743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59" y="2697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Segoe UI"/>
              </a:defRPr>
            </a:pPr>
            <a:r>
              <a:t>🔧 Procedural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3108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System prompts, tool definitions. Loaded at compile time. Version controlled.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46320"/>
            <a:ext cx="1124712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83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Context Engineering = strategically combining all four memory types into a coherent prompt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Segoe UI"/>
              </a:defRPr>
            </a:pPr>
            <a:r>
              <a:t>Platform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Choosing the right memory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14300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A37F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14300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14300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285F4"/>
                </a:solidFill>
                <a:latin typeface="Segoe UI"/>
              </a:defRPr>
            </a:pPr>
            <a:r>
              <a:t>Gemini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M365 Copilot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4300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Code-First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Context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160020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1673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32K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160020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673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200K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160020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673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2M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160020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673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128K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673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Model-dep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148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Cross-Session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37360" y="214884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Auto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214884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Projects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214884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Auto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214884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Graph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14884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2219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Full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37360" y="269748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View/Del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66160" y="269748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Full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4960" y="269748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View/Del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0" y="269748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69748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Custom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246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Enterprise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37360" y="324612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3319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Team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66160" y="324612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6160" y="3319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94960" y="324612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0" y="3319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Work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23760" y="324612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3319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Native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52560" y="324612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3319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✓ Custom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Best For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37360" y="379476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37360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General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66160" y="379476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66160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Devs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94960" y="379476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0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Google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23760" y="379476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23760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M365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52560" y="3794760"/>
            <a:ext cx="1737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Custom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480560"/>
            <a:ext cx="1124712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4617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5CF6"/>
                </a:solidFill>
                <a:latin typeface="Segoe UI"/>
              </a:defRPr>
            </a:pPr>
            <a:r>
              <a:t>Pro tip: Start with SaaS memory → Graduate to Copilot Studio → Go code-first when you need custom schemas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Memory is the foundation of intelligent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118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Context is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LLMs don't truly "remember" — they process whatever context you give them. Memory is strategic context engineering.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6118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Match Approach to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SaaS for individuals, Copilot Studio for teams, code-first for custom requirements. Don't over-engineer.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118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Four Types, One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Working, episodic, semantic, procedural — all combine to make AI assistants feel intelligent and personalized.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112471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WHAT'S NEXT?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Try ChatGPT Memory settings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Create a Claude Project for your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Build a LangGraph agent with checkpointing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112471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Resources &amp; Code Samples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github.com/timothywarner/mcp-course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349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1F5F9"/>
                </a:solidFill>
                <a:latin typeface="Segoe UI"/>
              </a:defRPr>
            </a:pPr>
            <a:r>
              <a:t>Tim Warner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623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techtrainertim.com | @techtrainertim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