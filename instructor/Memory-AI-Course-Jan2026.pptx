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Arial"/>
              </a:defRPr>
            </a:pPr>
            <a:r>
              <a:t>O'REILLY LIVE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0F4F8"/>
                </a:solidFill>
                <a:latin typeface="Georgia"/>
              </a:defRPr>
            </a:pPr>
            <a:r>
              <a:t>Memory and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FF"/>
                </a:solidFill>
                <a:latin typeface="Georgia"/>
              </a:defRPr>
            </a:pPr>
            <a:r>
              <a:t>Context Engineering with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F4F8"/>
                </a:solidFill>
                <a:latin typeface="Arial"/>
              </a:defRPr>
            </a:pPr>
            <a:r>
              <a:t>Tim Warner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A4C4"/>
                </a:solidFill>
                <a:latin typeface="Arial"/>
              </a:defRPr>
            </a:pPr>
            <a:r>
              <a:t>Microsoft MVP | Pluralsight Author | O'Reilly Instructor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A4C4"/>
                </a:solidFill>
                <a:latin typeface="Arial"/>
              </a:defRPr>
            </a:pPr>
            <a:r>
              <a:t>Wednesday, January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4F8"/>
                </a:solidFill>
                <a:latin typeface="Georgia"/>
              </a:defRPr>
            </a:pPr>
            <a: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4C4"/>
                </a:solidFill>
                <a:latin typeface="Arial"/>
              </a:defRPr>
            </a:pPr>
            <a:r>
              <a:t>Four hours to master AI memory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2011680" cy="2926080"/>
          </a:xfrm>
          <a:prstGeom prst="roundRect">
            <a:avLst/>
          </a:prstGeom>
          <a:solidFill>
            <a:srgbClr val="162740"/>
          </a:solidFill>
          <a:ln w="381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FF"/>
                </a:solidFill>
                <a:latin typeface="Arial"/>
              </a:defRPr>
            </a:pPr>
            <a:r>
              <a:t>HOUR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4F8"/>
                </a:solidFill>
                <a:latin typeface="Georgia"/>
              </a:defRPr>
            </a:pPr>
            <a:r>
              <a:t>Memory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346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A4C4"/>
                </a:solidFill>
                <a:latin typeface="Arial"/>
              </a:defRPr>
            </a:pPr>
            <a:r>
              <a:t>The four memory types, cognitive architectures, why AI forgets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645920"/>
            <a:ext cx="2011680" cy="2926080"/>
          </a:xfrm>
          <a:prstGeom prst="roundRect">
            <a:avLst/>
          </a:prstGeom>
          <a:solidFill>
            <a:srgbClr val="162740"/>
          </a:solidFill>
          <a:ln w="381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B35"/>
                </a:solidFill>
                <a:latin typeface="Arial"/>
              </a:defRPr>
            </a:pPr>
            <a:r>
              <a:t>HOUR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194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4F8"/>
                </a:solidFill>
                <a:latin typeface="Georgia"/>
              </a:defRPr>
            </a:pPr>
            <a:r>
              <a:t>SaaS AI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8346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A4C4"/>
                </a:solidFill>
                <a:latin typeface="Arial"/>
              </a:defRPr>
            </a:pPr>
            <a:r>
              <a:t>Claude Desktop, ChatGPT, Claude Code built-in memory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645920"/>
            <a:ext cx="2011680" cy="2926080"/>
          </a:xfrm>
          <a:prstGeom prst="roundRect">
            <a:avLst/>
          </a:prstGeom>
          <a:solidFill>
            <a:srgbClr val="162740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Arial"/>
              </a:defRPr>
            </a:pPr>
            <a:r>
              <a:t>HOUR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194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4F8"/>
                </a:solidFill>
                <a:latin typeface="Georgia"/>
              </a:defRPr>
            </a:pPr>
            <a:r>
              <a:t>Enterprise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8346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A4C4"/>
                </a:solidFill>
                <a:latin typeface="Arial"/>
              </a:defRPr>
            </a:pPr>
            <a:r>
              <a:t>Copilot Studio, custom connectors, orchestration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1645920"/>
            <a:ext cx="2011680" cy="2926080"/>
          </a:xfrm>
          <a:prstGeom prst="roundRect">
            <a:avLst/>
          </a:prstGeom>
          <a:solidFill>
            <a:srgbClr val="162740"/>
          </a:solidFill>
          <a:ln w="381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55F7"/>
                </a:solidFill>
                <a:latin typeface="Arial"/>
              </a:defRPr>
            </a:pPr>
            <a:r>
              <a:t>HOUR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194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4F8"/>
                </a:solidFill>
                <a:latin typeface="Georgia"/>
              </a:defRPr>
            </a:pPr>
            <a:r>
              <a:t>Build Your 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8346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A4C4"/>
                </a:solidFill>
                <a:latin typeface="Arial"/>
              </a:defRPr>
            </a:pPr>
            <a:r>
              <a:t>WARNERCO code review, architecture deep-dive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4572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00353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4FF"/>
                </a:solidFill>
                <a:latin typeface="Arial"/>
              </a:defRPr>
            </a:pPr>
            <a:r>
              <a:t>HOUR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0F4F8"/>
                </a:solidFill>
                <a:latin typeface="Georgia"/>
              </a:defRPr>
            </a:pPr>
            <a:r>
              <a:t>Memory and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A4C4"/>
                </a:solidFill>
                <a:latin typeface="Arial"/>
              </a:defRPr>
            </a:pPr>
            <a:r>
              <a:t>Understanding how AI systems remember and forget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8"/>
                </a:solidFill>
                <a:latin typeface="Georgia"/>
              </a:defRPr>
            </a:pPr>
            <a:r>
              <a:t>The Four Memory Types in AI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A4C4"/>
                </a:solidFill>
                <a:latin typeface="Arial"/>
              </a:defRPr>
            </a:pPr>
            <a:r>
              <a:t>Mapping human cognition to AI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4023360" cy="1828800"/>
          </a:xfrm>
          <a:prstGeom prst="roundRect">
            <a:avLst/>
          </a:prstGeom>
          <a:solidFill>
            <a:srgbClr val="16274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628"/>
                </a:solidFill>
                <a:latin typeface="Arial"/>
              </a:defRPr>
            </a:pPr>
            <a:r>
              <a:t>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Georgia"/>
              </a:defRPr>
            </a:pPr>
            <a:r>
              <a:t>Working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A4C4"/>
                </a:solidFill>
                <a:latin typeface="Arial"/>
              </a:defRPr>
            </a:pPr>
            <a:r>
              <a:t>"What am I doing right now?"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4F8"/>
                </a:solidFill>
                <a:latin typeface="Arial"/>
              </a:defRPr>
            </a:pPr>
            <a:r>
              <a:t>Context window, in-memory cache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371600"/>
            <a:ext cx="4023360" cy="1828800"/>
          </a:xfrm>
          <a:prstGeom prst="roundRect">
            <a:avLst/>
          </a:prstGeom>
          <a:solidFill>
            <a:srgbClr val="16274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155448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628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Georgia"/>
              </a:defRPr>
            </a:pPr>
            <a:r>
              <a:t>Episodic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920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A4C4"/>
                </a:solidFill>
                <a:latin typeface="Arial"/>
              </a:defRPr>
            </a:pPr>
            <a:r>
              <a:t>"What happened last time?"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3774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4F8"/>
                </a:solidFill>
                <a:latin typeface="Arial"/>
              </a:defRPr>
            </a:pPr>
            <a:r>
              <a:t>Conversation history, session summaries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474720"/>
            <a:ext cx="4023360" cy="1828800"/>
          </a:xfrm>
          <a:prstGeom prst="roundRect">
            <a:avLst/>
          </a:prstGeom>
          <a:solidFill>
            <a:srgbClr val="16274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628"/>
                </a:solidFill>
                <a:latin typeface="Arial"/>
              </a:defRPr>
            </a:pPr>
            <a: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03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Georgia"/>
              </a:defRPr>
            </a:pPr>
            <a:r>
              <a:t>Semantic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02335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A4C4"/>
                </a:solidFill>
                <a:latin typeface="Arial"/>
              </a:defRPr>
            </a:pPr>
            <a:r>
              <a:t>"What do I know as facts?"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805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4F8"/>
                </a:solidFill>
                <a:latin typeface="Arial"/>
              </a:defRPr>
            </a:pPr>
            <a:r>
              <a:t>Knowledge bases, vector stores, graphs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474720"/>
            <a:ext cx="4023360" cy="1828800"/>
          </a:xfrm>
          <a:prstGeom prst="roundRect">
            <a:avLst/>
          </a:prstGeom>
          <a:solidFill>
            <a:srgbClr val="162740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54880" y="3657600"/>
            <a:ext cx="457200" cy="4572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628"/>
                </a:solidFill>
                <a:latin typeface="Arial"/>
              </a:defRPr>
            </a:pPr>
            <a: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703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Georgia"/>
              </a:defRPr>
            </a:pPr>
            <a:r>
              <a:t>Procedural 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02335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A4C4"/>
                </a:solidFill>
                <a:latin typeface="Arial"/>
              </a:defRPr>
            </a:pPr>
            <a:r>
              <a:t>"How do I do things?"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4805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4F8"/>
                </a:solidFill>
                <a:latin typeface="Arial"/>
              </a:defRPr>
            </a:pPr>
            <a:r>
              <a:t>Fine-tuned patterns, tool sequences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8"/>
                </a:solidFill>
                <a:latin typeface="Georgia"/>
              </a:defRPr>
            </a:pPr>
            <a:r>
              <a:t>The AI Memory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A4C4"/>
                </a:solidFill>
                <a:latin typeface="Arial"/>
              </a:defRPr>
            </a:pPr>
            <a:r>
              <a:t>From milliseconds to permanent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1463040"/>
            <a:ext cx="3200400" cy="9144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0" y="1554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  <a:latin typeface="Arial"/>
              </a:defRPr>
            </a:pPr>
            <a:r>
              <a:t>TIER 1: IMMEDIATE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A1628"/>
                </a:solidFill>
                <a:latin typeface="Arial"/>
              </a:defRPr>
            </a:pPr>
            <a:r>
              <a:t>Context window, in-memory cache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1031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101A"/>
                </a:solidFill>
                <a:latin typeface="Arial"/>
              </a:defRPr>
            </a:pPr>
            <a:r>
              <a:t>Milliseconds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514600"/>
            <a:ext cx="4572000" cy="9144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26060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  <a:latin typeface="Arial"/>
              </a:defRPr>
            </a:pPr>
            <a:r>
              <a:t>TIER 2: SHORT-TERM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8803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A1628"/>
                </a:solidFill>
                <a:latin typeface="Arial"/>
              </a:defRPr>
            </a:pPr>
            <a:r>
              <a:t>Conversation summaries, session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15468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101A"/>
                </a:solidFill>
                <a:latin typeface="Arial"/>
              </a:defRPr>
            </a:pPr>
            <a:r>
              <a:t>Seconds to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3566160"/>
            <a:ext cx="5943600" cy="914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36576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  <a:latin typeface="Arial"/>
              </a:defRPr>
            </a:pPr>
            <a:r>
              <a:t>TIER 3: LONG-TERM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9319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A1628"/>
                </a:solidFill>
                <a:latin typeface="Arial"/>
              </a:defRPr>
            </a:pPr>
            <a:r>
              <a:t>Vector databases, knowledge graphs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206240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101A"/>
                </a:solidFill>
                <a:latin typeface="Arial"/>
              </a:defRPr>
            </a:pPr>
            <a:r>
              <a:t>Hours to Forever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617720"/>
            <a:ext cx="7315200" cy="9144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709159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  <a:latin typeface="Arial"/>
              </a:defRPr>
            </a:pPr>
            <a:r>
              <a:t>TIER 4: PERMANENT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8348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A1628"/>
                </a:solidFill>
                <a:latin typeface="Arial"/>
              </a:defRPr>
            </a:pPr>
            <a:r>
              <a:t>Training data, fine-tuned behaviors, RLHF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57800"/>
            <a:ext cx="7040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101A"/>
                </a:solidFill>
                <a:latin typeface="Arial"/>
              </a:defRPr>
            </a:pPr>
            <a:r>
              <a:t>Model Weights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8"/>
                </a:solidFill>
                <a:latin typeface="Georgia"/>
              </a:defRPr>
            </a:pPr>
            <a:r>
              <a:t>The Context Window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A4C4"/>
                </a:solidFill>
                <a:latin typeface="Arial"/>
              </a:defRPr>
            </a:pPr>
            <a:r>
              <a:t>Understanding the four types of context loss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Arial"/>
              </a:defRPr>
            </a:pPr>
            <a:r>
              <a:t>Window Overflow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A4C4"/>
                </a:solidFill>
                <a:latin typeface="Arial"/>
              </a:defRPr>
            </a:pPr>
            <a:r>
              <a:t>Cause: Conversation exceeds token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4F8"/>
                </a:solidFill>
                <a:latin typeface="Arial"/>
              </a:defRPr>
            </a:pPr>
            <a:r>
              <a:t>Effect: Oldest context dropped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Arial"/>
              </a:defRPr>
            </a:pPr>
            <a:r>
              <a:t>Session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23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A4C4"/>
                </a:solidFill>
                <a:latin typeface="Arial"/>
              </a:defRPr>
            </a:pPr>
            <a:r>
              <a:t>Cause: New session starts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23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4F8"/>
                </a:solidFill>
                <a:latin typeface="Arial"/>
              </a:defRPr>
            </a:pPr>
            <a:r>
              <a:t>Effect: All context lost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rial"/>
              </a:defRPr>
            </a:pPr>
            <a:r>
              <a:t>Attention Dilution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A4C4"/>
                </a:solidFill>
                <a:latin typeface="Arial"/>
              </a:defRPr>
            </a:pPr>
            <a:r>
              <a:t>Cause: Too much context loaded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4F8"/>
                </a:solidFill>
                <a:latin typeface="Arial"/>
              </a:defRPr>
            </a:pPr>
            <a:r>
              <a:t>Effect: Important details ignored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Arial"/>
              </a:defRPr>
            </a:pPr>
            <a:r>
              <a:t>Compression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434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A4C4"/>
                </a:solidFill>
                <a:latin typeface="Arial"/>
              </a:defRPr>
            </a:pPr>
            <a:r>
              <a:t>Cause: Summaries lose nuance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434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4F8"/>
                </a:solidFill>
                <a:latin typeface="Arial"/>
              </a:defRPr>
            </a:pPr>
            <a:r>
              <a:t>Effect: Details degraded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4572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3F1A0D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6B35"/>
                </a:solidFill>
                <a:latin typeface="Arial"/>
              </a:defRPr>
            </a:pPr>
            <a:r>
              <a:t>HOUR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0F4F8"/>
                </a:solidFill>
                <a:latin typeface="Georgia"/>
              </a:defRPr>
            </a:pPr>
            <a:r>
              <a:t>Built-in Memory in SaaS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A4C4"/>
                </a:solidFill>
                <a:latin typeface="Arial"/>
              </a:defRPr>
            </a:pPr>
            <a:r>
              <a:t>Exploring memory features in Claude Desktop, ChatGPT, and Claude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8"/>
                </a:solidFill>
                <a:latin typeface="Georgia"/>
              </a:defRPr>
            </a:pPr>
            <a:r>
              <a:t>SaaS AI Memory Feature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A4C4"/>
                </a:solidFill>
                <a:latin typeface="Arial"/>
              </a:defRPr>
            </a:pPr>
            <a: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FF"/>
                </a:solidFill>
                <a:latin typeface="Arial"/>
              </a:defRPr>
            </a:pPr>
            <a:r>
              <a:t>Claude Desktop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97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ChatGPT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097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855F7"/>
                </a:solidFill>
                <a:latin typeface="Arial"/>
              </a:defRPr>
            </a:pPr>
            <a:r>
              <a:t>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4F8"/>
                </a:solidFill>
                <a:latin typeface="Arial"/>
              </a:defRPr>
            </a:pPr>
            <a:r>
              <a:t>Auto-Memory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35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35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4F8"/>
                </a:solidFill>
                <a:latin typeface="Arial"/>
              </a:defRPr>
            </a:pPr>
            <a:r>
              <a:t>Custom 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4F8"/>
                </a:solidFill>
                <a:latin typeface="Arial"/>
              </a:defRPr>
            </a:pPr>
            <a:r>
              <a:t>MCP Server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35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37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4F8"/>
                </a:solidFill>
                <a:latin typeface="Arial"/>
              </a:defRPr>
            </a:pPr>
            <a:r>
              <a:t>Project/Workspace Scoping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337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337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35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337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4F8"/>
                </a:solidFill>
                <a:latin typeface="Arial"/>
              </a:defRPr>
            </a:pPr>
            <a:r>
              <a:t>File-Based 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35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26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4F8"/>
                </a:solidFill>
                <a:latin typeface="Arial"/>
              </a:defRPr>
            </a:pPr>
            <a:r>
              <a:t>Memory Export/Portability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526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526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Arial"/>
              </a:defRPr>
            </a:pPr>
            <a:r>
              <a:t>Partial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526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Yes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4572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042E20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Arial"/>
              </a:defRPr>
            </a:pPr>
            <a:r>
              <a:t>HOUR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0F4F8"/>
                </a:solidFill>
                <a:latin typeface="Georgia"/>
              </a:defRPr>
            </a:pPr>
            <a:r>
              <a:t>Enterprise Memory with Copilot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A4C4"/>
                </a:solidFill>
                <a:latin typeface="Arial"/>
              </a:defRPr>
            </a:pPr>
            <a:r>
              <a:t>Building persistent memory into enterprise AI agents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4572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2A153D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855F7"/>
                </a:solidFill>
                <a:latin typeface="Arial"/>
              </a:defRPr>
            </a:pPr>
            <a:r>
              <a:t>HOUR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0F4F8"/>
                </a:solidFill>
                <a:latin typeface="Georgia"/>
              </a:defRPr>
            </a:pPr>
            <a:r>
              <a:t>Code-First Memory with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A4C4"/>
                </a:solidFill>
                <a:latin typeface="Arial"/>
              </a:defRPr>
            </a:pPr>
            <a:r>
              <a:t>Building custom memory servers using Model Context Protocol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8"/>
                </a:solidFill>
                <a:latin typeface="Georgia"/>
              </a:defRPr>
            </a:pPr>
            <a:r>
              <a:t>Model Context Protocol (MCP)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A4C4"/>
                </a:solidFill>
                <a:latin typeface="Arial"/>
              </a:defRPr>
            </a:pPr>
            <a:r>
              <a:t>An open protocol standardizing how AI connects to external data and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2286000" cy="1097280"/>
          </a:xfrm>
          <a:prstGeom prst="roundRect">
            <a:avLst/>
          </a:prstGeom>
          <a:solidFill>
            <a:srgbClr val="16274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Arial"/>
              </a:defRPr>
            </a:pPr>
            <a:r>
              <a:t>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A4C4"/>
                </a:solidFill>
                <a:latin typeface="Arial"/>
              </a:defRPr>
            </a:pPr>
            <a:r>
              <a:t>Actions LLM can take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286000" cy="1097280"/>
          </a:xfrm>
          <a:prstGeom prst="roundRect">
            <a:avLst/>
          </a:prstGeom>
          <a:solidFill>
            <a:srgbClr val="16274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37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6B35"/>
                </a:solidFill>
                <a:latin typeface="Arial"/>
              </a:defRPr>
            </a:pPr>
            <a:r>
              <a:t>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A4C4"/>
                </a:solidFill>
                <a:latin typeface="Arial"/>
              </a:defRPr>
            </a:pPr>
            <a:r>
              <a:t>Data LLM can 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554480"/>
            <a:ext cx="2286000" cy="1097280"/>
          </a:xfrm>
          <a:prstGeom prst="roundRect">
            <a:avLst/>
          </a:prstGeom>
          <a:solidFill>
            <a:srgbClr val="16274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737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Arial"/>
              </a:defRPr>
            </a:pPr>
            <a:r>
              <a:t>Prompts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A4C4"/>
                </a:solidFill>
                <a:latin typeface="Arial"/>
              </a:defRPr>
            </a:pPr>
            <a:r>
              <a:t>Templates to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A4C4"/>
                </a:solidFill>
                <a:latin typeface="Arial"/>
              </a:defRPr>
            </a:pPr>
            <a:r>
              <a:t>MCP 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291840"/>
            <a:ext cx="2743200" cy="5486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4F8"/>
                </a:solidFill>
                <a:latin typeface="Arial"/>
              </a:defRPr>
            </a:pPr>
            <a:r>
              <a:t>Host (Claude Desktop)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886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A4C4"/>
                </a:solidFill>
                <a:latin typeface="Arial"/>
              </a:defRPr>
            </a:pPr>
            <a:r>
              <a:t>JSON-RPC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297680"/>
            <a:ext cx="1828800" cy="548640"/>
          </a:xfrm>
          <a:prstGeom prst="roundRect">
            <a:avLst/>
          </a:prstGeom>
          <a:solidFill>
            <a:srgbClr val="16274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FF"/>
                </a:solidFill>
                <a:latin typeface="Arial"/>
              </a:defRPr>
            </a:pPr>
            <a:r>
              <a:t>Memory 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4297680"/>
            <a:ext cx="1828800" cy="548640"/>
          </a:xfrm>
          <a:prstGeom prst="roundRect">
            <a:avLst/>
          </a:prstGeom>
          <a:solidFill>
            <a:srgbClr val="16274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35"/>
                </a:solidFill>
                <a:latin typeface="Arial"/>
              </a:defRPr>
            </a:pPr>
            <a:r>
              <a:t>Database Server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297680"/>
            <a:ext cx="1828800" cy="548640"/>
          </a:xfrm>
          <a:prstGeom prst="roundRect">
            <a:avLst/>
          </a:prstGeom>
          <a:solidFill>
            <a:srgbClr val="16274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Arial"/>
              </a:defRPr>
            </a:pPr>
            <a:r>
              <a:t>API Server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0F4F8"/>
                </a:solidFill>
                <a:latin typeface="Georgia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FF"/>
                </a:solidFill>
                <a:latin typeface="Georgia"/>
              </a:defRPr>
            </a:pPr>
            <a:r>
              <a:t>"Memory is the mother of all wisdom."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A4C4"/>
                </a:solidFill>
                <a:latin typeface="Arial"/>
              </a:defRPr>
            </a:pPr>
            <a:r>
              <a:t>— Aeschylus (applied to AI,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4F8"/>
                </a:solidFill>
                <a:latin typeface="Arial"/>
              </a:defRPr>
            </a:pPr>
            <a:r>
              <a:t>Tim Warner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Arial"/>
              </a:defRPr>
            </a:pPr>
            <a:r>
              <a:t>@TechTrainerTim  |  linkedin.com/in/intechtrainer  |  techtrainertim.com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A4C4"/>
                </a:solidFill>
                <a:latin typeface="Arial"/>
              </a:defRPr>
            </a:pPr>
            <a:r>
              <a:t>Resources: modelcontextprotocol.io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A4C4"/>
                </a:solidFill>
                <a:latin typeface="Arial"/>
              </a:defRPr>
            </a:pPr>
            <a:r>
              <a:t>O'Reilly Live Training | January 29,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