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0" y="164592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4F8"/>
                </a:solidFill>
                <a:latin typeface="Arial"/>
              </a:defRPr>
            </a:pPr>
            <a:r>
              <a:t>Context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4FF"/>
                </a:solidFill>
                <a:latin typeface="Arial"/>
              </a:defRPr>
            </a:pPr>
            <a:r>
              <a:t>Build AI Systems That Actually Remember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291840"/>
            <a:ext cx="2743200" cy="4572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Arial"/>
              </a:defRPr>
            </a:pPr>
            <a:r>
              <a:t>Tim Warner | O'Reilly Live Training |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8"/>
                </a:solidFill>
                <a:latin typeface="Arial"/>
              </a:defRPr>
            </a:pPr>
            <a: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4 segments × 50 minutes | Hands-on labs | Production-ready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731520" cy="6858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1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A162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4F8"/>
                </a:solidFill>
                <a:latin typeface="Arial"/>
              </a:defRPr>
            </a:pPr>
            <a:r>
              <a:t>All About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39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Arial"/>
              </a:defRPr>
            </a:pPr>
            <a:r>
              <a:t>Token economics, memory types, and the real cost of forgetting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48839"/>
            <a:ext cx="731520" cy="685800"/>
          </a:xfrm>
          <a:prstGeom prst="round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599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A162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40279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4F8"/>
                </a:solidFill>
                <a:latin typeface="Arial"/>
              </a:defRPr>
            </a:pPr>
            <a:r>
              <a:t>All About 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603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Arial"/>
              </a:defRPr>
            </a:pPr>
            <a:r>
              <a:t>Protocol deep-dive with FastMCP, tools, resources, and prompts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017520"/>
            <a:ext cx="731520" cy="6858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15467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A162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1089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4F8"/>
                </a:solidFill>
                <a:latin typeface="Arial"/>
              </a:defRPr>
            </a:pPr>
            <a:r>
              <a:t>Semantic Memory Stores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4290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Arial"/>
              </a:defRPr>
            </a:pPr>
            <a:r>
              <a:t>From JSON to Pinecone — build memory that scales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86200"/>
            <a:ext cx="731520" cy="6858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023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A1628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977639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4F8"/>
                </a:solidFill>
                <a:latin typeface="Arial"/>
              </a:defRPr>
            </a:pPr>
            <a:r>
              <a:t>Production Clients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976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Arial"/>
              </a:defRPr>
            </a:pPr>
            <a:r>
              <a:t>Claude Desktop, VS Code, Copilot, and LangGraph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4FF"/>
                </a:solidFill>
                <a:latin typeface="Arial"/>
              </a:defRPr>
            </a:pPr>
            <a:r>
              <a:t>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6949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0F4F8"/>
                </a:solidFill>
                <a:latin typeface="Arial"/>
              </a:defRPr>
            </a:pPr>
            <a:r>
              <a:t>The difference between a helpful AI assistant and a transformative AI partner is memory. Without persistent context, every conversation starts from zero.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40FB"/>
                </a:solidFill>
                <a:latin typeface="Arial"/>
              </a:defRPr>
            </a:pPr>
            <a:r>
              <a:t>— The Context Engineering Manifesto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Arial"/>
              </a:defRPr>
            </a:pPr>
            <a:r>
              <a:t>SEGMENT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0F4F8"/>
                </a:solidFill>
                <a:latin typeface="Arial"/>
              </a:defRPr>
            </a:pPr>
            <a:r>
              <a:t>All About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99AA"/>
                </a:solidFill>
                <a:latin typeface="Arial"/>
              </a:defRPr>
            </a:pPr>
            <a:r>
              <a:t>Why Your AI Has Amnesia — And How to Fix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3840480"/>
            <a:ext cx="640080" cy="137160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23360" y="3840480"/>
            <a:ext cx="640080" cy="137160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46320" y="3840480"/>
            <a:ext cx="640080" cy="137160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0" y="3840480"/>
            <a:ext cx="640080" cy="137160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4F8"/>
                </a:solidFill>
                <a:latin typeface="Arial"/>
              </a:defRPr>
            </a:pPr>
            <a:r>
              <a:t>What is a Context Window?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The most important concept in AI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The AI's "working memory" — everything visible during generation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Measured in tokens (~0.75 words, ~4 characters per token)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Includes: System prompt + conversation history + tools + output buffer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When full, oldest content gets pushed out (FIFO amnesia)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The fundamental constraint that shapes all AI system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4F8"/>
                </a:solidFill>
                <a:latin typeface="Arial"/>
              </a:defRPr>
            </a:pPr>
            <a:r>
              <a:t>Context Windows in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Bigger isn't always better — quality degrades with length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920240" cy="2011680"/>
          </a:xfrm>
          <a:prstGeom prst="round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  <a:latin typeface="Arial"/>
              </a:defRPr>
            </a:pPr>
            <a:r>
              <a:t>200K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9AA"/>
                </a:solidFill>
                <a:latin typeface="Arial"/>
              </a:defRPr>
            </a:pPr>
            <a:r>
              <a:t>Claude Sonnet/Opus</a:t>
            </a:r>
            <a:br/>
            <a:r>
              <a:t>$3-15/M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1371600"/>
            <a:ext cx="1920240" cy="2011680"/>
          </a:xfrm>
          <a:prstGeom prst="round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40" y="15544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CAF50"/>
                </a:solidFill>
                <a:latin typeface="Arial"/>
              </a:defRPr>
            </a:pPr>
            <a:r>
              <a:t>128K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2860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9AA"/>
                </a:solidFill>
                <a:latin typeface="Arial"/>
              </a:defRPr>
            </a:pPr>
            <a:r>
              <a:t>GPT-4o</a:t>
            </a:r>
            <a:br/>
            <a:r>
              <a:t>$2.50/M input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371600"/>
            <a:ext cx="1920240" cy="2011680"/>
          </a:xfrm>
          <a:prstGeom prst="round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5544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040FB"/>
                </a:solidFill>
                <a:latin typeface="Arial"/>
              </a:defRPr>
            </a:pPr>
            <a:r>
              <a:t>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2860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9AA"/>
                </a:solidFill>
                <a:latin typeface="Arial"/>
              </a:defRPr>
            </a:pPr>
            <a:r>
              <a:t>Gemini 2.0</a:t>
            </a:r>
            <a:br/>
            <a:r>
              <a:t>$0.075/M 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371600"/>
            <a:ext cx="1920240" cy="2011680"/>
          </a:xfrm>
          <a:prstGeom prst="round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15544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9800"/>
                </a:solidFill>
                <a:latin typeface="Arial"/>
              </a:defRPr>
            </a:pPr>
            <a:r>
              <a:t>10M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2860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9AA"/>
                </a:solidFill>
                <a:latin typeface="Arial"/>
              </a:defRPr>
            </a:pPr>
            <a:r>
              <a:t>Llama 4</a:t>
            </a:r>
            <a:br/>
            <a:r>
              <a:t>(Coming Soon)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4F8"/>
                </a:solidFill>
                <a:latin typeface="Arial"/>
              </a:defRPr>
            </a:pPr>
            <a:r>
              <a:t>The Context Budget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Why your 200K context feels like 50K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8412480" cy="3566160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8138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E5FF"/>
                </a:solidFill>
                <a:latin typeface="Courier New"/>
              </a:defRPr>
            </a:pPr>
            <a:r>
              <a:t># What you THINK you have:</a:t>
            </a:r>
            <a:br/>
            <a:r>
              <a:t>max_tokens = 200_000  # Claude Sonnet 4</a:t>
            </a:r>
            <a:br/>
            <a:br/>
            <a:r>
              <a:t># What you ACTUALLY have:</a:t>
            </a:r>
            <a:br/>
            <a:r>
              <a:t>system_prompt     = 5_000   # Instructions, persona, rules</a:t>
            </a:r>
            <a:br/>
            <a:r>
              <a:t>output_buffer     = 8_000   # Space for response generation</a:t>
            </a:r>
            <a:br/>
            <a:r>
              <a:t>safety_margin     = 10_000  # Avoid edge cases</a:t>
            </a:r>
            <a:br/>
            <a:r>
              <a:t>tool_definitions  = 15_000  # MCP servers add up fast!</a:t>
            </a:r>
            <a:br/>
            <a:r>
              <a:t>conversation_hist = 50_000  # Previous turns</a:t>
            </a:r>
            <a:br/>
            <a:br/>
            <a:r>
              <a:t>available = max_tokens - system_prompt - output_buffer - safety_margin - tool_definitions - conversation_hist</a:t>
            </a:r>
            <a:br/>
            <a:r>
              <a:t># available = 112,000 tokens for YOUR content</a:t>
            </a:r>
            <a:br/>
            <a:br/>
            <a:r>
              <a:t># Cost reality check:</a:t>
            </a:r>
            <a:br/>
            <a:r>
              <a:t>tokens_per_hour = 500_000   # Active coding session</a:t>
            </a:r>
            <a:br/>
            <a:r>
              <a:t>cost_per_hour = (tokens_per_hour / 1_000_000) * 3.00  # = $1.50/hour minimum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4F8"/>
                </a:solidFill>
                <a:latin typeface="Arial"/>
              </a:defRPr>
            </a:pPr>
            <a:r>
              <a:t>The Four Types of Context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Understanding what's stealing your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4023360" cy="3291840"/>
          </a:xfrm>
          <a:prstGeom prst="round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Arial"/>
              </a:defRPr>
            </a:pPr>
            <a:r>
              <a:t>The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Window Overflow — oldest messages evicted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Session Boundary — complete reset between sessions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Attention Dilution — info lost in the noise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Compression Loss — summarization loses details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188720"/>
            <a:ext cx="4023360" cy="3291840"/>
          </a:xfrm>
          <a:prstGeom prst="round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325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40FB"/>
                </a:solidFill>
                <a:latin typeface="Arial"/>
              </a:defRPr>
            </a:pPr>
            <a:r>
              <a:t>The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73736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→ Selective retention + importance scoring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→ Persistent memory stores (our focus!)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→ Strategic context organization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→ Hierarchical memory + smart retrieval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4F8"/>
                </a:solidFill>
                <a:latin typeface="Arial"/>
              </a:defRPr>
            </a:pPr>
            <a:r>
              <a:t>The "Lost in the Middle"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It's not just about fitting — it's about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LLMs weigh beginning and end of context more heavily (primacy + recency bias)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Critical information in the middle gets undervalued — even if it fits!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Studies show performance drops 15-30% for middle-positioned facts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Solution: Put important context at START or END of your prompts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Better solution: Use memory systems to surface relevant context dynamically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4F8"/>
                </a:solidFill>
                <a:latin typeface="Arial"/>
              </a:defRPr>
            </a:pPr>
            <a:r>
              <a:t>Why RAG Isn't Enough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RAG retrieves documents, but doesn't remember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4023360" cy="3291840"/>
          </a:xfrm>
          <a:prstGeom prst="round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Arial"/>
              </a:defRPr>
            </a:pPr>
            <a:r>
              <a:t>RAG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One-shot retrieval (no iteration)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No write-back capability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Static chunk boundaries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No learning from interactions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Retrieval ≠ Memory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188720"/>
            <a:ext cx="4023360" cy="3291840"/>
          </a:xfrm>
          <a:prstGeom prst="round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325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40FB"/>
                </a:solidFill>
                <a:latin typeface="Arial"/>
              </a:defRPr>
            </a:pPr>
            <a:r>
              <a:t>What We Actually 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73736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Working Memory (current session)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Episodic Memory (past conversations)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Semantic Memory (knowledge base)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Procedural Memory (learned patterns)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Memory ≠ Retrieval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4FF"/>
                </a:solidFill>
                <a:latin typeface="Arial"/>
              </a:defRPr>
            </a:pPr>
            <a:r>
              <a:t>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6949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0F4F8"/>
                </a:solidFill>
                <a:latin typeface="Arial"/>
              </a:defRPr>
            </a:pPr>
            <a:r>
              <a:t>Context Engineering is the systematic design of what information an AI can access, remember, and utilize across interactions. It's Capture → Store → Retrieve — done right.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40FB"/>
                </a:solidFill>
                <a:latin typeface="Arial"/>
              </a:defRPr>
            </a:pPr>
            <a:r>
              <a:t>— Our Working Definition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4F8"/>
                </a:solidFill>
                <a:latin typeface="Arial"/>
              </a:defRPr>
            </a:pPr>
            <a:r>
              <a:t>The Three Pillars of Context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MCP standardizes all three across every AI 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37160" cy="777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8092440" cy="777240"/>
          </a:xfrm>
          <a:prstGeom prst="round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Arial"/>
              </a:defRPr>
            </a:pPr>
            <a:r>
              <a:t>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39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Arial"/>
              </a:defRPr>
            </a:pPr>
            <a:r>
              <a:t>Decide WHAT to preserve — importance scoring, entity extraction, decision tracking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137160" cy="77724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2194560"/>
            <a:ext cx="8092440" cy="777240"/>
          </a:xfrm>
          <a:prstGeom prst="round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042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40FB"/>
                </a:solidFill>
                <a:latin typeface="Arial"/>
              </a:defRPr>
            </a:pPr>
            <a:r>
              <a:t>STORE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Arial"/>
              </a:defRPr>
            </a:pPr>
            <a:r>
              <a:t>Decide WHERE and HOW — JSON → SQLite → Vectors → Cloud (choose your adventure)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137160" cy="777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3108960"/>
            <a:ext cx="8092440" cy="777240"/>
          </a:xfrm>
          <a:prstGeom prst="round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186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Arial"/>
              </a:defRPr>
            </a:pPr>
            <a:r>
              <a:t>RETRIEVE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Arial"/>
              </a:defRPr>
            </a:pPr>
            <a:r>
              <a:t>Decide WHEN and WHAT — semantic search, recency, relevance ranking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Arial"/>
              </a:defRPr>
            </a:pPr>
            <a:r>
              <a:t>SEGMENT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0F4F8"/>
                </a:solidFill>
                <a:latin typeface="Arial"/>
              </a:defRPr>
            </a:pPr>
            <a:r>
              <a:t>All About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99AA"/>
                </a:solidFill>
                <a:latin typeface="Arial"/>
              </a:defRPr>
            </a:pPr>
            <a:r>
              <a:t>The Universal Protocol for AI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3840480"/>
            <a:ext cx="640080" cy="1371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23360" y="3840480"/>
            <a:ext cx="640080" cy="137160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46320" y="3840480"/>
            <a:ext cx="640080" cy="137160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0" y="3840480"/>
            <a:ext cx="640080" cy="137160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4F8"/>
                </a:solidFill>
                <a:latin typeface="Arial"/>
              </a:defRPr>
            </a:pPr>
            <a:r>
              <a:t>Model Context Protocol (MCP)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The USB-C of AI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Open standard created by Anthropic, adopted by OpenAI &amp; Google (Dec 2025)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Now under the Linux Foundation's Agentic AI Foundation (AAIF)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JSON-RPC 2.0 based protocol for AI ↔ tool communication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Three primitives: Tools (actions), Resources (data), Prompts (templates)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One protocol, every client — Claude, Copilot, VS Code, custom agents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4F8"/>
                </a:solidFill>
                <a:latin typeface="Arial"/>
              </a:defRPr>
            </a:pPr>
            <a:r>
              <a:t>MCP's Three Primitives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Understanding when to use each primitive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37160" cy="777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8092440" cy="777240"/>
          </a:xfrm>
          <a:prstGeom prst="round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Arial"/>
              </a:defRPr>
            </a:pPr>
            <a:r>
              <a:t>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39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Arial"/>
              </a:defRPr>
            </a:pPr>
            <a:r>
              <a:t>Model-controlled functions the AI can invoke — store_memory(), search(), execute()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137160" cy="77724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2194560"/>
            <a:ext cx="8092440" cy="777240"/>
          </a:xfrm>
          <a:prstGeom prst="round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042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40FB"/>
                </a:solidFill>
                <a:latin typeface="Arial"/>
              </a:defRPr>
            </a:pPr>
            <a:r>
              <a:t>RESOURCES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Arial"/>
              </a:defRPr>
            </a:pPr>
            <a:r>
              <a:t>Application-controlled data the AI can read — memory://stats, file://config.json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137160" cy="777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3108960"/>
            <a:ext cx="8092440" cy="777240"/>
          </a:xfrm>
          <a:prstGeom prst="round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186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Arial"/>
              </a:defRPr>
            </a:pPr>
            <a:r>
              <a:t>PROMPTS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Arial"/>
              </a:defRPr>
            </a:pPr>
            <a:r>
              <a:t>User-controlled templates for common workflows — /summarize, /remember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23360"/>
            <a:ext cx="137160" cy="7772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4023360"/>
            <a:ext cx="8092440" cy="777240"/>
          </a:xfrm>
          <a:prstGeom prst="round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330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Arial"/>
              </a:defRPr>
            </a:pPr>
            <a:r>
              <a:t>SAMPLING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348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Arial"/>
              </a:defRPr>
            </a:pPr>
            <a:r>
              <a:t>Request LLM completions from within tools — advanced pattern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4F8"/>
                </a:solidFill>
                <a:latin typeface="Arial"/>
              </a:defRPr>
            </a:pPr>
            <a:r>
              <a:t>MCP Transport Mechanisms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Choose based on deployment needs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4023360" cy="3291840"/>
          </a:xfrm>
          <a:prstGeom prst="round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Arial"/>
              </a:defRPr>
            </a:pPr>
            <a:r>
              <a:t>Local (stdio)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Process spawned by client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Communication via stdin/stdout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Zero network latency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Excellent security (sandboxed)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Best for: dev tools, local memory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188720"/>
            <a:ext cx="4023360" cy="3291840"/>
          </a:xfrm>
          <a:prstGeom prst="round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325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40FB"/>
                </a:solidFill>
                <a:latin typeface="Arial"/>
              </a:defRPr>
            </a:pPr>
            <a:r>
              <a:t>Remote (HTTP+SSE)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73736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Server running anywhere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SSE for server → client streaming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POST for client → server calls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Requires TLS in production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Best for: shared memory, teams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4F8"/>
                </a:solidFill>
                <a:latin typeface="Arial"/>
              </a:defRPr>
            </a:pPr>
            <a:r>
              <a:t>FastMCP: Python-First MCP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The Flask/FastAPI of MCP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Pythonic decorators for tools, resources, prompts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Built-in Pydantic validation with automatic schema generation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Development server with hot reload included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Type hints become JSON Schema automatically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From idea to working MCP server in 5 minutes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4F8"/>
                </a:solidFill>
                <a:latin typeface="Arial"/>
              </a:defRPr>
            </a:pPr>
            <a:r>
              <a:t>Your First FastMCP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Pydantic models become tool schemas automatically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8412480" cy="3566160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8138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E5FF"/>
                </a:solidFill>
                <a:latin typeface="Courier New"/>
              </a:defRPr>
            </a:pPr>
            <a:r>
              <a:t>from fastmcp import FastMCP</a:t>
            </a:r>
            <a:br/>
            <a:r>
              <a:t>from pydantic import BaseModel, Field</a:t>
            </a:r>
            <a:br/>
            <a:br/>
            <a:r>
              <a:t>mcp = FastMCP("memory-server")</a:t>
            </a:r>
            <a:br/>
            <a:br/>
            <a:r>
              <a:t>class MemoryInput(BaseModel):</a:t>
            </a:r>
            <a:br/>
            <a:r>
              <a:t>    content: str = Field(..., description="Content to remember", max_length=10000)</a:t>
            </a:r>
            <a:br/>
            <a:r>
              <a:t>    importance: int = Field(default=5, ge=1, le=10, description="Priority 1-10")</a:t>
            </a:r>
            <a:br/>
            <a:br/>
            <a:r>
              <a:t>@mcp.tool()</a:t>
            </a:r>
            <a:br/>
            <a:r>
              <a:t>async def store_memory(params: MemoryInput) -&gt; str:</a:t>
            </a:r>
            <a:br/>
            <a:r>
              <a:t>    """Store information for later retrieval."""</a:t>
            </a:r>
            <a:br/>
            <a:r>
              <a:t>    memory_id = save_to_store(params.content, params.importance)</a:t>
            </a:r>
            <a:br/>
            <a:r>
              <a:t>    return f"Stored as {memory_id}"</a:t>
            </a:r>
            <a:br/>
            <a:br/>
            <a:r>
              <a:t>@mcp.resource("memory://stats")</a:t>
            </a:r>
            <a:br/>
            <a:r>
              <a:t>async def get_stats() -&gt; str:</a:t>
            </a:r>
            <a:br/>
            <a:r>
              <a:t>    """Memory system statistics."""</a:t>
            </a:r>
            <a:br/>
            <a:r>
              <a:t>    return json.dumps({"total": count_memories(), "avg_importance": get_avg()})</a:t>
            </a:r>
            <a:br/>
            <a:br/>
            <a:r>
              <a:t>if __name__ == "__main__":</a:t>
            </a:r>
            <a:br/>
            <a:r>
              <a:t>    mcp.run()  # That's it!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4F8"/>
                </a:solidFill>
                <a:latin typeface="Arial"/>
              </a:defRPr>
            </a:pPr>
            <a:r>
              <a:t>MCP Tool Annotations (2025 Spec)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Annotations help clients make smart decisions about tool usage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8412480" cy="3566160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8138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E5FF"/>
                </a:solidFill>
                <a:latin typeface="Courier New"/>
              </a:defRPr>
            </a:pPr>
            <a:r>
              <a:t>@mcp.tool(</a:t>
            </a:r>
            <a:br/>
            <a:r>
              <a:t>    name="store_memory",</a:t>
            </a:r>
            <a:br/>
            <a:r>
              <a:t>    annotations={</a:t>
            </a:r>
            <a:br/>
            <a:r>
              <a:t>        "title": "Store Memory",              # Human-readable name</a:t>
            </a:r>
            <a:br/>
            <a:r>
              <a:t>        "readOnlyHint": False,                # Modifies state</a:t>
            </a:r>
            <a:br/>
            <a:r>
              <a:t>        "destructiveHint": False,             # Not dangerous</a:t>
            </a:r>
            <a:br/>
            <a:r>
              <a:t>        "idempotentHint": False,              # Not safe to retry</a:t>
            </a:r>
            <a:br/>
            <a:r>
              <a:t>        "openWorldHint": True,                # Accesses external systems</a:t>
            </a:r>
            <a:br/>
            <a:r>
              <a:t>    }</a:t>
            </a:r>
            <a:br/>
            <a:r>
              <a:t>)</a:t>
            </a:r>
            <a:br/>
            <a:r>
              <a:t>async def store_memory(params: MemoryInput) -&gt; str:</a:t>
            </a:r>
            <a:br/>
            <a:r>
              <a:t>    """Store information for future retrieval.</a:t>
            </a:r>
            <a:br/>
            <a:br/>
            <a:r>
              <a:t>    Use this tool to save important facts, user preferences,</a:t>
            </a:r>
            <a:br/>
            <a:r>
              <a:t>    decisions, or any content that should persist across sessions.</a:t>
            </a:r>
            <a:br/>
            <a:r>
              <a:t>    """</a:t>
            </a:r>
            <a:br/>
            <a:r>
              <a:t>    # Implementation...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4F8"/>
                </a:solidFill>
                <a:latin typeface="Arial"/>
              </a:defRPr>
            </a:pPr>
            <a:r>
              <a:t>MCP Resources: Dynamic Data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Resources expose data without giving write access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8412480" cy="3566160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8138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E5FF"/>
                </a:solidFill>
                <a:latin typeface="Courier New"/>
              </a:defRPr>
            </a:pPr>
            <a:r>
              <a:t>@mcp.resource("memory://recent")</a:t>
            </a:r>
            <a:br/>
            <a:r>
              <a:t>async def get_recent() -&gt; str:</a:t>
            </a:r>
            <a:br/>
            <a:r>
              <a:t>    """Get 10 most recent memories."""</a:t>
            </a:r>
            <a:br/>
            <a:r>
              <a:t>    return json.dumps(get_recent_memories(10))</a:t>
            </a:r>
            <a:br/>
            <a:br/>
            <a:r>
              <a:t>@mcp.resource("memory://important")</a:t>
            </a:r>
            <a:br/>
            <a:r>
              <a:t>async def get_important() -&gt; str:</a:t>
            </a:r>
            <a:br/>
            <a:r>
              <a:t>    """Get high-priority memories (importance &gt;= 7)."""</a:t>
            </a:r>
            <a:br/>
            <a:r>
              <a:t>    return json.dumps(get_by_importance(min_score=7))</a:t>
            </a:r>
            <a:br/>
            <a:br/>
            <a:r>
              <a:t>@mcp.resource("memory://category/{category}")</a:t>
            </a:r>
            <a:br/>
            <a:r>
              <a:t>async def get_by_category(category: str) -&gt; str:</a:t>
            </a:r>
            <a:br/>
            <a:r>
              <a:t>    """Get memories filtered by category."""</a:t>
            </a:r>
            <a:br/>
            <a:r>
              <a:t>    return json.dumps(get_memories(category=category))</a:t>
            </a:r>
            <a:br/>
            <a:br/>
            <a:r>
              <a:t># Resources are READ-ONLY data the model can access</a:t>
            </a:r>
            <a:br/>
            <a:r>
              <a:t># Use tools for actions, resources for state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4F8"/>
                </a:solidFill>
                <a:latin typeface="Arial"/>
              </a:defRPr>
            </a:pPr>
            <a:r>
              <a:t>Testing with MCP Inspector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Essential for development — don't skip this!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Visual tool for exploring and debugging MCP servers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Launch: npx @anthropic/mcp-inspector python server.py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See all tools, resources, prompts with their schemas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Test tool calls interactively with live results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Inspect raw JSON-RPC messages for debugging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Arial"/>
              </a:defRPr>
            </a:pPr>
            <a:r>
              <a:t>SEGMENT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0F4F8"/>
                </a:solidFill>
                <a:latin typeface="Arial"/>
              </a:defRPr>
            </a:pPr>
            <a:r>
              <a:t>Semantic Memory Stores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99AA"/>
                </a:solidFill>
                <a:latin typeface="Arial"/>
              </a:defRPr>
            </a:pPr>
            <a:r>
              <a:t>From Prototype to Production-Scale 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3840480"/>
            <a:ext cx="640080" cy="1371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23360" y="3840480"/>
            <a:ext cx="640080" cy="1371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46320" y="3840480"/>
            <a:ext cx="640080" cy="137160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0" y="3840480"/>
            <a:ext cx="640080" cy="137160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4F8"/>
                </a:solidFill>
                <a:latin typeface="Arial"/>
              </a:defRPr>
            </a:pPr>
            <a:r>
              <a:t>The Memory Storage Spectrum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Start simple, scale when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37160" cy="777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8092440" cy="777240"/>
          </a:xfrm>
          <a:prstGeom prst="round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Arial"/>
              </a:defRPr>
            </a:pPr>
            <a:r>
              <a:t>JSON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39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Arial"/>
              </a:defRPr>
            </a:pPr>
            <a:r>
              <a:t>Zero dependencies, instant setup — perfect for prototyping and &lt;1000 memories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137160" cy="777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2194560"/>
            <a:ext cx="8092440" cy="777240"/>
          </a:xfrm>
          <a:prstGeom prst="round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042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Arial"/>
              </a:defRPr>
            </a:pPr>
            <a:r>
              <a:t>SQLite + FTS5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Arial"/>
              </a:defRPr>
            </a:pPr>
            <a:r>
              <a:t>Structured queries, full-text search — great for local apps up to 100K items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137160" cy="77724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3108960"/>
            <a:ext cx="8092440" cy="777240"/>
          </a:xfrm>
          <a:prstGeom prst="round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186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40FB"/>
                </a:solidFill>
                <a:latin typeface="Arial"/>
              </a:defRPr>
            </a:pPr>
            <a:r>
              <a:t>ChromaDB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Arial"/>
              </a:defRPr>
            </a:pPr>
            <a:r>
              <a:t>Vector embeddings, semantic search — best for dev/test with similarity needs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23360"/>
            <a:ext cx="137160" cy="7772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4023360"/>
            <a:ext cx="8092440" cy="777240"/>
          </a:xfrm>
          <a:prstGeom prst="round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330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Arial"/>
              </a:defRPr>
            </a:pPr>
            <a:r>
              <a:t>Pinecone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348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9AA"/>
                </a:solidFill>
                <a:latin typeface="Arial"/>
              </a:defRPr>
            </a:pPr>
            <a:r>
              <a:t>Cloud-scale vectors, managed infra — production workloads at any scale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4F8"/>
                </a:solidFill>
                <a:latin typeface="Arial"/>
              </a:defRPr>
            </a:pPr>
            <a:r>
              <a:t>Choosing Your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No single right answer — context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4023360" cy="3291840"/>
          </a:xfrm>
          <a:prstGeom prst="round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Arial"/>
              </a:defRPr>
            </a:pPr>
            <a:r>
              <a:t>Consider These Factors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Team size and DevOps capacity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Data volume (now and 12 months out)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Query type: exact vs. semantic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Latency requirements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Budget constraints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188720"/>
            <a:ext cx="4023360" cy="3291840"/>
          </a:xfrm>
          <a:prstGeom prst="round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325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40FB"/>
                </a:solidFill>
                <a:latin typeface="Arial"/>
              </a:defRPr>
            </a:pPr>
            <a:r>
              <a:t>Our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73736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Solo dev / prototype → JSON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Small team / local app → SQLite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Semantic search needed → ChromaDB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Production / scale → Pinecone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Hybrid often best!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4F8"/>
                </a:solidFill>
                <a:latin typeface="Arial"/>
              </a:defRPr>
            </a:pPr>
            <a:r>
              <a:t>JSON Memory 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Simple but effective for getting started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8412480" cy="3566160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8138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E5FF"/>
                </a:solidFill>
                <a:latin typeface="Courier New"/>
              </a:defRPr>
            </a:pPr>
            <a:r>
              <a:t>class JSONMemoryStore:</a:t>
            </a:r>
            <a:br/>
            <a:r>
              <a:t>    """Thread-safe JSON storage — zero dependencies."""</a:t>
            </a:r>
            <a:br/>
            <a:br/>
            <a:r>
              <a:t>    def __init__(self, filepath: str = "memories.json"):</a:t>
            </a:r>
            <a:br/>
            <a:r>
              <a:t>        self.filepath = Path(filepath)</a:t>
            </a:r>
            <a:br/>
            <a:r>
              <a:t>        self.lock = Lock()  # Thread safety</a:t>
            </a:r>
            <a:br/>
            <a:r>
              <a:t>        self._ensure_file()</a:t>
            </a:r>
            <a:br/>
            <a:br/>
            <a:r>
              <a:t>    def store(self, content: str, metadata: dict = None) -&gt; str:</a:t>
            </a:r>
            <a:br/>
            <a:r>
              <a:t>        with self.lock:</a:t>
            </a:r>
            <a:br/>
            <a:r>
              <a:t>            data = self._load()</a:t>
            </a:r>
            <a:br/>
            <a:r>
              <a:t>            memory_id = f"mem_{len(data['memories']):06d}"</a:t>
            </a:r>
            <a:br/>
            <a:r>
              <a:t>            data["memories"].append({</a:t>
            </a:r>
            <a:br/>
            <a:r>
              <a:t>                "id": memory_id,</a:t>
            </a:r>
            <a:br/>
            <a:r>
              <a:t>                "content": content,</a:t>
            </a:r>
            <a:br/>
            <a:r>
              <a:t>                "metadata": metadata or {},</a:t>
            </a:r>
            <a:br/>
            <a:r>
              <a:t>                "created_at": datetime.utcnow().isoformat(),</a:t>
            </a:r>
            <a:br/>
            <a:r>
              <a:t>            })</a:t>
            </a:r>
            <a:br/>
            <a:r>
              <a:t>            self._save(data)</a:t>
            </a:r>
            <a:br/>
            <a:r>
              <a:t>            return memory_id</a:t>
            </a:r>
            <a:br/>
            <a:br/>
            <a:r>
              <a:t>    def search(self, query: str, limit: int = 10) -&gt; list:</a:t>
            </a:r>
            <a:br/>
            <a:r>
              <a:t>        data = self._load()</a:t>
            </a:r>
            <a:br/>
            <a:r>
              <a:t>        return [m for m in data["memories"]</a:t>
            </a:r>
            <a:br/>
            <a:r>
              <a:t>                if query.lower() in m["content"].lower()][:limit]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4F8"/>
                </a:solidFill>
                <a:latin typeface="Arial"/>
              </a:defRPr>
            </a:pPr>
            <a:r>
              <a:t>SQLite + FTS5 Memory 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FTS5 brings powerful search without vectors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8412480" cy="3566160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8138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E5FF"/>
                </a:solidFill>
                <a:latin typeface="Courier New"/>
              </a:defRPr>
            </a:pPr>
            <a:r>
              <a:t>class SQLiteMemoryStore:</a:t>
            </a:r>
            <a:br/>
            <a:r>
              <a:t>    """SQLite with full-text search — no external services."""</a:t>
            </a:r>
            <a:br/>
            <a:br/>
            <a:r>
              <a:t>    def _init_db(self):</a:t>
            </a:r>
            <a:br/>
            <a:r>
              <a:t>        with self._get_connection() as conn:</a:t>
            </a:r>
            <a:br/>
            <a:r>
              <a:t>            conn.execute("""</a:t>
            </a:r>
            <a:br/>
            <a:r>
              <a:t>                CREATE TABLE IF NOT EXISTS memories (</a:t>
            </a:r>
            <a:br/>
            <a:r>
              <a:t>                    id TEXT PRIMARY KEY,</a:t>
            </a:r>
            <a:br/>
            <a:r>
              <a:t>                    content TEXT NOT NULL,</a:t>
            </a:r>
            <a:br/>
            <a:r>
              <a:t>                    category TEXT DEFAULT 'general',</a:t>
            </a:r>
            <a:br/>
            <a:r>
              <a:t>                    importance INTEGER DEFAULT 5,</a:t>
            </a:r>
            <a:br/>
            <a:r>
              <a:t>                    created_at TIMESTAMP DEFAULT CURRENT_TIMESTAMP</a:t>
            </a:r>
            <a:br/>
            <a:r>
              <a:t>                )""")</a:t>
            </a:r>
            <a:br/>
            <a:br/>
            <a:r>
              <a:t>            # FTS5 for fast text search</a:t>
            </a:r>
            <a:br/>
            <a:r>
              <a:t>            conn.execute("""</a:t>
            </a:r>
            <a:br/>
            <a:r>
              <a:t>                CREATE VIRTUAL TABLE IF NOT EXISTS memories_fts</a:t>
            </a:r>
            <a:br/>
            <a:r>
              <a:t>                USING fts5(content, category, content=memories)</a:t>
            </a:r>
            <a:br/>
            <a:r>
              <a:t>            """)</a:t>
            </a:r>
            <a:br/>
            <a:br/>
            <a:r>
              <a:t>    def search(self, query: str, limit: int = 10) -&gt; list:</a:t>
            </a:r>
            <a:br/>
            <a:r>
              <a:t>        """Full-text search with BM25 ranking."""</a:t>
            </a:r>
            <a:br/>
            <a:r>
              <a:t>        return conn.execute("""</a:t>
            </a:r>
            <a:br/>
            <a:r>
              <a:t>            SELECT m.*, bm25(memories_fts) as rank</a:t>
            </a:r>
            <a:br/>
            <a:r>
              <a:t>            FROM memories m JOIN memories_fts ON m.rowid = memories_fts.rowid</a:t>
            </a:r>
            <a:br/>
            <a:r>
              <a:t>            WHERE memories_fts MATCH ? ORDER BY rank LIMIT ?</a:t>
            </a:r>
            <a:br/>
            <a:r>
              <a:t>        """, (query, limit)).fetchall()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4F8"/>
                </a:solidFill>
                <a:latin typeface="Arial"/>
              </a:defRPr>
            </a:pPr>
            <a:r>
              <a:t>Why Vector Search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The leap from matching to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Traditional search: "find 'python'" → exact keyword match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Vector search: "find programming tips" → returns Python, JavaScript, coding best practices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Embeddings convert text to high-dimensional vectors (768-3072 dimensions)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Similar meanings cluster together in vector space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Cosine similarity finds semantically related content, not just keyword matches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4F8"/>
                </a:solidFill>
                <a:latin typeface="Arial"/>
              </a:defRPr>
            </a:pPr>
            <a:r>
              <a:t>ChromaDB Semantic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Embeddings happen automatically — just add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8412480" cy="3566160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8138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E5FF"/>
                </a:solidFill>
                <a:latin typeface="Courier New"/>
              </a:defRPr>
            </a:pPr>
            <a:r>
              <a:t>class ChromaMemoryStore:</a:t>
            </a:r>
            <a:br/>
            <a:r>
              <a:t>    """Local vector search with automatic embeddings."""</a:t>
            </a:r>
            <a:br/>
            <a:br/>
            <a:r>
              <a:t>    def __init__(self, persist_dir: str = "./chroma_data"):</a:t>
            </a:r>
            <a:br/>
            <a:r>
              <a:t>        self.client = chromadb.PersistentClient(path=persist_dir)</a:t>
            </a:r>
            <a:br/>
            <a:r>
              <a:t>        self.collection = self.client.get_or_create_collection(</a:t>
            </a:r>
            <a:br/>
            <a:r>
              <a:t>            name="memories",</a:t>
            </a:r>
            <a:br/>
            <a:r>
              <a:t>            metadata={"hnsw:space": "cosine"}  # Similarity metric</a:t>
            </a:r>
            <a:br/>
            <a:r>
              <a:t>        )</a:t>
            </a:r>
            <a:br/>
            <a:br/>
            <a:r>
              <a:t>    def store(self, content: str, category: str = "general") -&gt; str:</a:t>
            </a:r>
            <a:br/>
            <a:r>
              <a:t>        memory_id = f"mem_{datetime.utcnow().timestamp()}"</a:t>
            </a:r>
            <a:br/>
            <a:r>
              <a:t>        self.collection.add(</a:t>
            </a:r>
            <a:br/>
            <a:r>
              <a:t>            documents=[content],  # ChromaDB auto-generates embeddings!</a:t>
            </a:r>
            <a:br/>
            <a:r>
              <a:t>            metadatas=[{"category": category}],</a:t>
            </a:r>
            <a:br/>
            <a:r>
              <a:t>            ids=[memory_id]</a:t>
            </a:r>
            <a:br/>
            <a:r>
              <a:t>        )</a:t>
            </a:r>
            <a:br/>
            <a:r>
              <a:t>        return memory_id</a:t>
            </a:r>
            <a:br/>
            <a:br/>
            <a:r>
              <a:t>    def semantic_search(self, query: str, limit: int = 10) -&gt; list:</a:t>
            </a:r>
            <a:br/>
            <a:r>
              <a:t>        results = self.collection.query(</a:t>
            </a:r>
            <a:br/>
            <a:r>
              <a:t>            query_texts=[query], n_results=limit,</a:t>
            </a:r>
            <a:br/>
            <a:r>
              <a:t>            include=["documents", "metadatas", "distances"]</a:t>
            </a:r>
            <a:br/>
            <a:r>
              <a:t>        )</a:t>
            </a:r>
            <a:br/>
            <a:r>
              <a:t>        return [{"content": doc, "similarity": 1 - dist}</a:t>
            </a:r>
            <a:br/>
            <a:r>
              <a:t>                for doc, dist in zip(results["documents"][0], results["distances"][0])]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4F8"/>
                </a:solidFill>
                <a:latin typeface="Arial"/>
              </a:defRPr>
            </a:pPr>
            <a:r>
              <a:t>Pinecone: Production-Scale Vectors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Namespaces enable multi-tenant memory isolation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8412480" cy="3566160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8138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E5FF"/>
                </a:solidFill>
                <a:latin typeface="Courier New"/>
              </a:defRPr>
            </a:pPr>
            <a:r>
              <a:t>class PineconeMemoryStore:</a:t>
            </a:r>
            <a:br/>
            <a:r>
              <a:t>    """Cloud-managed vectors for enterprise scale."""</a:t>
            </a:r>
            <a:br/>
            <a:br/>
            <a:r>
              <a:t>    def __init__(self, index_name: str = "memories"):</a:t>
            </a:r>
            <a:br/>
            <a:r>
              <a:t>        self.pc = Pinecone(api_key=os.environ["PINECONE_API_KEY"])</a:t>
            </a:r>
            <a:br/>
            <a:r>
              <a:t>        self.index = self.pc.Index(index_name)</a:t>
            </a:r>
            <a:br/>
            <a:r>
              <a:t>        self.embedder = get_embedding_model()  # Voyage, OpenAI, etc.</a:t>
            </a:r>
            <a:br/>
            <a:br/>
            <a:r>
              <a:t>    def store(self, content: str, user_id: str = "default") -&gt; str:</a:t>
            </a:r>
            <a:br/>
            <a:r>
              <a:t>        memory_id = f"mem_{user_id}_{time.time()}"</a:t>
            </a:r>
            <a:br/>
            <a:r>
              <a:t>        embedding = self.embedder.encode(content)</a:t>
            </a:r>
            <a:br/>
            <a:br/>
            <a:r>
              <a:t>        self.index.upsert(</a:t>
            </a:r>
            <a:br/>
            <a:r>
              <a:t>            vectors=[{"id": memory_id, "values": embedding,</a:t>
            </a:r>
            <a:br/>
            <a:r>
              <a:t>                     "metadata": {"content": content[:1000]}}],</a:t>
            </a:r>
            <a:br/>
            <a:r>
              <a:t>            namespace=user_id  # Multi-tenant isolation!</a:t>
            </a:r>
            <a:br/>
            <a:r>
              <a:t>        )</a:t>
            </a:r>
            <a:br/>
            <a:r>
              <a:t>        return memory_id</a:t>
            </a:r>
            <a:br/>
            <a:br/>
            <a:r>
              <a:t>    def search(self, query: str, user_id: str = "default", limit: int = 10):</a:t>
            </a:r>
            <a:br/>
            <a:r>
              <a:t>        query_vec = self.embedder.encode(query)</a:t>
            </a:r>
            <a:br/>
            <a:r>
              <a:t>        return self.index.query(</a:t>
            </a:r>
            <a:br/>
            <a:r>
              <a:t>            vector=query_vec, top_k=limit,</a:t>
            </a:r>
            <a:br/>
            <a:r>
              <a:t>            namespace=user_id, include_metadata=True</a:t>
            </a:r>
            <a:br/>
            <a:r>
              <a:t>        ).matches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4F8"/>
                </a:solidFill>
                <a:latin typeface="Arial"/>
              </a:defRPr>
            </a:pPr>
            <a:r>
              <a:t>Unified Memory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Abstract interface enables backend flexibility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8412480" cy="3566160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8138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E5FF"/>
                </a:solidFill>
                <a:latin typeface="Courier New"/>
              </a:defRPr>
            </a:pPr>
            <a:r>
              <a:t>from abc import ABC, abstractmethod</a:t>
            </a:r>
            <a:br/>
            <a:r>
              <a:t>from enum import Enum</a:t>
            </a:r>
            <a:br/>
            <a:br/>
            <a:r>
              <a:t>class MemoryBackend(str, Enum):</a:t>
            </a:r>
            <a:br/>
            <a:r>
              <a:t>    JSON = "json"</a:t>
            </a:r>
            <a:br/>
            <a:r>
              <a:t>    SQLITE = "sqlite"</a:t>
            </a:r>
            <a:br/>
            <a:r>
              <a:t>    CHROMA = "chroma"</a:t>
            </a:r>
            <a:br/>
            <a:r>
              <a:t>    PINECONE = "pinecone"</a:t>
            </a:r>
            <a:br/>
            <a:br/>
            <a:r>
              <a:t>class MemoryStore(ABC):</a:t>
            </a:r>
            <a:br/>
            <a:r>
              <a:t>    @abstractmethod</a:t>
            </a:r>
            <a:br/>
            <a:r>
              <a:t>    def store(self, content: str, **kwargs) -&gt; str: pass</a:t>
            </a:r>
            <a:br/>
            <a:br/>
            <a:r>
              <a:t>    @abstractmethod</a:t>
            </a:r>
            <a:br/>
            <a:r>
              <a:t>    def search(self, query: str, limit: int = 10) -&gt; list: pass</a:t>
            </a:r>
            <a:br/>
            <a:br/>
            <a:r>
              <a:t>    @abstractmethod</a:t>
            </a:r>
            <a:br/>
            <a:r>
              <a:t>    def get(self, memory_id: str) -&gt; dict | None: pass</a:t>
            </a:r>
            <a:br/>
            <a:br/>
            <a:r>
              <a:t>def create_memory_store(backend: MemoryBackend, **kwargs) -&gt; MemoryStore:</a:t>
            </a:r>
            <a:br/>
            <a:r>
              <a:t>    """Factory function — swap backends without code changes."""</a:t>
            </a:r>
            <a:br/>
            <a:r>
              <a:t>    stores = {</a:t>
            </a:r>
            <a:br/>
            <a:r>
              <a:t>        MemoryBackend.JSON: JSONMemoryStore,</a:t>
            </a:r>
            <a:br/>
            <a:r>
              <a:t>        MemoryBackend.SQLITE: SQLiteMemoryStore,</a:t>
            </a:r>
            <a:br/>
            <a:r>
              <a:t>        MemoryBackend.CHROMA: ChromaMemoryStore,</a:t>
            </a:r>
            <a:br/>
            <a:r>
              <a:t>        MemoryBackend.PINECONE: PineconeMemoryStore,</a:t>
            </a:r>
            <a:br/>
            <a:r>
              <a:t>    }</a:t>
            </a:r>
            <a:br/>
            <a:r>
              <a:t>    return stores[backend](**kwargs)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Arial"/>
              </a:defRPr>
            </a:pPr>
            <a:r>
              <a:t>SEGMENT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0F4F8"/>
                </a:solidFill>
                <a:latin typeface="Arial"/>
              </a:defRPr>
            </a:pPr>
            <a:r>
              <a:t>MCP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99AA"/>
                </a:solidFill>
                <a:latin typeface="Arial"/>
              </a:defRPr>
            </a:pPr>
            <a:r>
              <a:t>Claude Desktop, VS Code, Copilot &amp; Beyond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3840480"/>
            <a:ext cx="640080" cy="1371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23360" y="3840480"/>
            <a:ext cx="640080" cy="1371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46320" y="3840480"/>
            <a:ext cx="640080" cy="1371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0" y="3840480"/>
            <a:ext cx="640080" cy="137160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4F8"/>
                </a:solidFill>
                <a:latin typeface="Arial"/>
              </a:defRPr>
            </a:pPr>
            <a:r>
              <a:t>MCP Client Landscape (2026)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One protocol, endless possibilities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Claude Desktop — Anthropic's flagship app with full MCP support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Claude Code — Terminal-based coding agent with project-scoped MCP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VS Code — MCP extension + GitHub Copilot integration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Cursor, Windsurf — AI-first IDEs with MCP support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Custom agents — LangChain, LangGraph, Semantic Kernel, your own!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4F8"/>
                </a:solidFill>
                <a:latin typeface="Arial"/>
              </a:defRPr>
            </a:pPr>
            <a:r>
              <a:t>Claude Desktop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~/Library/Application Support/Claude/claude_desktop_config.json (macOS)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8412480" cy="3566160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8138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E5FF"/>
                </a:solidFill>
                <a:latin typeface="Courier New"/>
              </a:defRPr>
            </a:pPr>
            <a:r>
              <a:t>{</a:t>
            </a:r>
            <a:br/>
            <a:r>
              <a:t>  "mcpServers": {</a:t>
            </a:r>
            <a:br/>
            <a:r>
              <a:t>    "memory": {</a:t>
            </a:r>
            <a:br/>
            <a:r>
              <a:t>      "command": "python",</a:t>
            </a:r>
            <a:br/>
            <a:r>
              <a:t>      "args": ["-m", "memory_server"],</a:t>
            </a:r>
            <a:br/>
            <a:r>
              <a:t>      "env": {</a:t>
            </a:r>
            <a:br/>
            <a:r>
              <a:t>        "MEMORY_BACKEND": "sqlite",</a:t>
            </a:r>
            <a:br/>
            <a:r>
              <a:t>        "MEMORY_PATH": "~/Documents/claude_memories.db"</a:t>
            </a:r>
            <a:br/>
            <a:r>
              <a:t>      }</a:t>
            </a:r>
            <a:br/>
            <a:r>
              <a:t>    },</a:t>
            </a:r>
            <a:br/>
            <a:r>
              <a:t>    "filesystem": {</a:t>
            </a:r>
            <a:br/>
            <a:r>
              <a:t>      "command": "npx",</a:t>
            </a:r>
            <a:br/>
            <a:r>
              <a:t>      "args": ["-y", "@modelcontextprotocol/server-filesystem", "~/Projects"]</a:t>
            </a:r>
            <a:br/>
            <a:r>
              <a:t>    },</a:t>
            </a:r>
            <a:br/>
            <a:r>
              <a:t>    "github": {</a:t>
            </a:r>
            <a:br/>
            <a:r>
              <a:t>      "command": "npx",</a:t>
            </a:r>
            <a:br/>
            <a:r>
              <a:t>      "args": ["-y", "@modelcontextprotocol/server-github"],</a:t>
            </a:r>
            <a:br/>
            <a:r>
              <a:t>      "env": { "GITHUB_TOKEN": "${GITHUB_TOKEN}" }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4F8"/>
                </a:solidFill>
                <a:latin typeface="Arial"/>
              </a:defRPr>
            </a:pPr>
            <a:r>
              <a:t>Claude Code: Project-Scoped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Project decisions that survive across sessions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8412480" cy="3566160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8138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E5FF"/>
                </a:solidFill>
                <a:latin typeface="Courier New"/>
              </a:defRPr>
            </a:pPr>
            <a:r>
              <a:t>// .claude/mcp.json in your project root</a:t>
            </a:r>
            <a:br/>
            <a:r>
              <a:t>{</a:t>
            </a:r>
            <a:br/>
            <a:r>
              <a:t>  "mcpServers": {</a:t>
            </a:r>
            <a:br/>
            <a:r>
              <a:t>    "project-memory": {</a:t>
            </a:r>
            <a:br/>
            <a:r>
              <a:t>      "command": "python",</a:t>
            </a:r>
            <a:br/>
            <a:r>
              <a:t>      "args": ["./tools/memory_server.py"],</a:t>
            </a:r>
            <a:br/>
            <a:r>
              <a:t>      "cwd": "${workspaceFolder}",</a:t>
            </a:r>
            <a:br/>
            <a:r>
              <a:t>      "env": {</a:t>
            </a:r>
            <a:br/>
            <a:r>
              <a:t>        "MEMORY_PATH": ".claude/memories.json"</a:t>
            </a:r>
            <a:br/>
            <a:r>
              <a:t>      }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  <a:br/>
            <a:br/>
            <a:r>
              <a:t>// Usage in Claude Code:</a:t>
            </a:r>
            <a:br/>
            <a:r>
              <a:t>// &gt; Remember that we decided to use FastAPI for the backend</a:t>
            </a:r>
            <a:br/>
            <a:r>
              <a:t>// [Claude stores this decision in project memory]</a:t>
            </a:r>
            <a:br/>
            <a:r>
              <a:t>//</a:t>
            </a:r>
            <a:br/>
            <a:r>
              <a:t>// &gt; What framework did we choose?</a:t>
            </a:r>
            <a:br/>
            <a:r>
              <a:t>// [Claude retrieves: "FastAPI for the backend"]</a:t>
            </a:r>
            <a:br/>
            <a:r>
              <a:t>//</a:t>
            </a:r>
            <a:br/>
            <a:r>
              <a:t>// Memory persists across sessions and can be git-committed!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4F8"/>
                </a:solidFill>
                <a:latin typeface="Arial"/>
              </a:defRPr>
            </a:pPr>
            <a:r>
              <a:t>VS Code + GitHub Copilot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Copilot Chat gains persistent project memory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8412480" cy="3566160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8138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E5FF"/>
                </a:solidFill>
                <a:latin typeface="Courier New"/>
              </a:defRPr>
            </a:pPr>
            <a:r>
              <a:t>// .vscode/settings.json</a:t>
            </a:r>
            <a:br/>
            <a:r>
              <a:t>{</a:t>
            </a:r>
            <a:br/>
            <a:r>
              <a:t>  "mcp.servers": {</a:t>
            </a:r>
            <a:br/>
            <a:r>
              <a:t>    "workspace-memory": {</a:t>
            </a:r>
            <a:br/>
            <a:r>
              <a:t>      "command": "python",</a:t>
            </a:r>
            <a:br/>
            <a:r>
              <a:t>      "args": ["${workspaceFolder}/tools/memory_server.py"]</a:t>
            </a:r>
            <a:br/>
            <a:r>
              <a:t>    }</a:t>
            </a:r>
            <a:br/>
            <a:r>
              <a:t>  },</a:t>
            </a:r>
            <a:br/>
            <a:r>
              <a:t>  "github.copilot.chat.experimental.mcpServers": true</a:t>
            </a:r>
            <a:br/>
            <a:r>
              <a:t>}</a:t>
            </a:r>
            <a:br/>
            <a:br/>
            <a:r>
              <a:t>// In Copilot Chat:</a:t>
            </a:r>
            <a:br/>
            <a:r>
              <a:t>// @workspace What API patterns have we established?</a:t>
            </a:r>
            <a:br/>
            <a:r>
              <a:t>// → Copilot queries MCP memory for project context</a:t>
            </a:r>
            <a:br/>
            <a:r>
              <a:t>//</a:t>
            </a:r>
            <a:br/>
            <a:r>
              <a:t>// @workspace /remember We're using Repository pattern for data access</a:t>
            </a:r>
            <a:br/>
            <a:r>
              <a:t>// → Stores decision in memory for future reference</a:t>
            </a:r>
            <a:br/>
            <a:br/>
            <a:r>
              <a:t>// MCP tools appear in Copilot's tool picker</a:t>
            </a:r>
            <a:br/>
            <a:r>
              <a:t>// Memory persists across VS Code sessions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4F8"/>
                </a:solidFill>
                <a:latin typeface="Arial"/>
              </a:defRPr>
            </a:pPr>
            <a:r>
              <a:t>LangGraph + MCP: Multi-Agent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Agents that build on each other's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LangGraph orchestrates multi-step agent workflows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Each agent node can read/write shared memory via MCP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Research Agent → retrieves relevant context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Analysis Agent → processes and synthesizes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Generation Agent → stores new learnings</a:t>
            </a:r>
          </a:p>
          <a:p>
            <a:pPr>
              <a:spcBef>
                <a:spcPts val="1200"/>
              </a:spcBef>
              <a:defRPr sz="1700">
                <a:solidFill>
                  <a:srgbClr val="F0F4F8"/>
                </a:solidFill>
              </a:defRPr>
            </a:pPr>
            <a:r>
              <a:t>• Memory persists across workflow runs and agents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4F8"/>
                </a:solidFill>
                <a:latin typeface="Arial"/>
              </a:defRPr>
            </a:pPr>
            <a:r>
              <a:t>LangGraph with MCP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Each node reads and writes to shared memory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8412480" cy="3566160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8138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E5FF"/>
                </a:solidFill>
                <a:latin typeface="Courier New"/>
              </a:defRPr>
            </a:pPr>
            <a:r>
              <a:t>from langgraph.graph import StateGraph, END</a:t>
            </a:r>
            <a:br/>
            <a:r>
              <a:t>from mcp import ClientSession</a:t>
            </a:r>
            <a:br/>
            <a:br/>
            <a:r>
              <a:t>class MCPMemoryClient:</a:t>
            </a:r>
            <a:br/>
            <a:r>
              <a:t>    async def search(self, query: str) -&gt; str:</a:t>
            </a:r>
            <a:br/>
            <a:r>
              <a:t>        return await self.session.call_tool("search_memories", {"query": query})</a:t>
            </a:r>
            <a:br/>
            <a:br/>
            <a:r>
              <a:t>    async def store(self, content: str, category: str) -&gt; str:</a:t>
            </a:r>
            <a:br/>
            <a:r>
              <a:t>        return await self.session.call_tool("store_memory",</a:t>
            </a:r>
            <a:br/>
            <a:r>
              <a:t>                                            {"content": content, "category": category})</a:t>
            </a:r>
            <a:br/>
            <a:br/>
            <a:r>
              <a:t>memory = MCPMemoryClient()</a:t>
            </a:r>
            <a:br/>
            <a:br/>
            <a:r>
              <a:t>async def research_node(state):</a:t>
            </a:r>
            <a:br/>
            <a:r>
              <a:t>    context = await memory.search(state["task"])</a:t>
            </a:r>
            <a:br/>
            <a:r>
              <a:t>    result = await llm.invoke(f"Research {state['task']} given: {context}")</a:t>
            </a:r>
            <a:br/>
            <a:r>
              <a:t>    await memory.store(result.content, category="research")</a:t>
            </a:r>
            <a:br/>
            <a:r>
              <a:t>    return {"messages": state["messages"] + [result]}</a:t>
            </a:r>
            <a:br/>
            <a:br/>
            <a:r>
              <a:t>workflow = StateGraph(AgentState)</a:t>
            </a:r>
            <a:br/>
            <a:r>
              <a:t>workflow.add_node("research", research_node)</a:t>
            </a:r>
            <a:br/>
            <a:r>
              <a:t>workflow.add_node("analyze", analyze_node)</a:t>
            </a:r>
            <a:br/>
            <a:r>
              <a:t>workflow.add_edge("research", "analyze")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4F8"/>
                </a:solidFill>
                <a:latin typeface="Arial"/>
              </a:defRPr>
            </a:pPr>
            <a:r>
              <a:t>Production Deployment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Many teams use both — local for dev, remote for prod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4023360" cy="3291840"/>
          </a:xfrm>
          <a:prstGeom prst="round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Arial"/>
              </a:defRPr>
            </a:pPr>
            <a:r>
              <a:t>Local (stdio)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Run as subprocess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No network exposure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Per-user isolation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Best for: desktop apps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Zero infrastructure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188720"/>
            <a:ext cx="4023360" cy="3291840"/>
          </a:xfrm>
          <a:prstGeom prst="round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325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40FB"/>
                </a:solidFill>
                <a:latin typeface="Arial"/>
              </a:defRPr>
            </a:pPr>
            <a:r>
              <a:t>Remote (HTTP+SSE)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73736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Containerized deployment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Shared team memory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Authentication required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Best for: teams, enterprise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Azure Container Apps, Railway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4F8"/>
                </a:solidFill>
                <a:latin typeface="Arial"/>
              </a:defRPr>
            </a:pPr>
            <a:r>
              <a:t>Production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Arial"/>
              </a:defRPr>
            </a:pPr>
            <a:r>
              <a:t>Never deploy MCP without authentication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8412480" cy="3566160"/>
          </a:xfrm>
          <a:prstGeom prst="round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8138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E5FF"/>
                </a:solidFill>
                <a:latin typeface="Courier New"/>
              </a:defRPr>
            </a:pPr>
            <a:r>
              <a:t>from fastapi import FastAPI, Depends, HTTPException</a:t>
            </a:r>
            <a:br/>
            <a:r>
              <a:t>from fastapi.security import HTTPBearer</a:t>
            </a:r>
            <a:br/>
            <a:br/>
            <a:r>
              <a:t>app = FastAPI()</a:t>
            </a:r>
            <a:br/>
            <a:r>
              <a:t>security = HTTPBearer()</a:t>
            </a:r>
            <a:br/>
            <a:br/>
            <a:r>
              <a:t>async def verify_token(credentials = Depends(security)):</a:t>
            </a:r>
            <a:br/>
            <a:r>
              <a:t>    """Verify API key or JWT token."""</a:t>
            </a:r>
            <a:br/>
            <a:r>
              <a:t>    # In prod: validate against Azure AD, Auth0, etc.</a:t>
            </a:r>
            <a:br/>
            <a:r>
              <a:t>    if credentials.credentials not in VALID_TOKENS:</a:t>
            </a:r>
            <a:br/>
            <a:r>
              <a:t>        raise HTTPException(status_code=401)</a:t>
            </a:r>
            <a:br/>
            <a:r>
              <a:t>    return credentials</a:t>
            </a:r>
            <a:br/>
            <a:br/>
            <a:r>
              <a:t>@app.post("/mcp/message", dependencies=[Depends(verify_token)])</a:t>
            </a:r>
            <a:br/>
            <a:r>
              <a:t>async def handle_mcp(request: dict):</a:t>
            </a:r>
            <a:br/>
            <a:r>
              <a:t>    return await mcp.handle_request(request)</a:t>
            </a:r>
            <a:br/>
            <a:br/>
            <a:r>
              <a:t># Also consider:</a:t>
            </a:r>
            <a:br/>
            <a:r>
              <a:t># - Rate limiting per user</a:t>
            </a:r>
            <a:br/>
            <a:r>
              <a:t># - Audit logging for compliance</a:t>
            </a:r>
            <a:br/>
            <a:r>
              <a:t># - Encryption at rest for memories</a:t>
            </a:r>
            <a:br/>
            <a:r>
              <a:t># - Namespace isolation for multi-tenant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4F8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548640" cy="6858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A1628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188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0F4F8"/>
                </a:solidFill>
                <a:latin typeface="Arial"/>
              </a:defRPr>
            </a:pPr>
            <a:r>
              <a:t>Context is finite and expensive — every token costs money and attention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548640" cy="685800"/>
          </a:xfrm>
          <a:prstGeom prst="round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A1628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57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0F4F8"/>
                </a:solidFill>
                <a:latin typeface="Arial"/>
              </a:defRPr>
            </a:pPr>
            <a:r>
              <a:t>MCP standardizes AI ↔ tool communication across all major clients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43200"/>
            <a:ext cx="548640" cy="6858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A1628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0F4F8"/>
                </a:solidFill>
                <a:latin typeface="Arial"/>
              </a:defRPr>
            </a:pPr>
            <a:r>
              <a:t>Start with JSON, graduate to SQLite, scale with vectors when needed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11879"/>
            <a:ext cx="548640" cy="6858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7490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A1628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79475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0F4F8"/>
                </a:solidFill>
                <a:latin typeface="Arial"/>
              </a:defRPr>
            </a:pPr>
            <a:r>
              <a:t>Memory transforms AI from assistant to partner — deploy it everywhere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4F8"/>
                </a:solidFill>
                <a:latin typeface="Arial"/>
              </a:defRPr>
            </a:pPr>
            <a:r>
              <a:t>Resources &amp;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14400"/>
            <a:ext cx="4023360" cy="3291840"/>
          </a:xfrm>
          <a:prstGeom prst="round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Arial"/>
              </a:defRPr>
            </a:pPr>
            <a:r>
              <a:t>Official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modelcontextprotocol.io — MCP spec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docs.anthropic.com — Claude docs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github.com/jlowin/fastmcp — FastMCP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docs.trychroma.com — ChromaDB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docs.pinecone.io — Pinecone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914400"/>
            <a:ext cx="4023360" cy="3291840"/>
          </a:xfrm>
          <a:prstGeom prst="roundRect">
            <a:avLst/>
          </a:prstGeom>
          <a:solidFill>
            <a:srgbClr val="12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40FB"/>
                </a:solidFill>
                <a:latin typeface="Arial"/>
              </a:defRPr>
            </a:pPr>
            <a:r>
              <a:t>Course Materials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46304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github.com/timothywarner-org/context-engineering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All code examples from today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Lab exercises with solutions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Client config templates</a:t>
            </a:r>
          </a:p>
          <a:p>
            <a:pPr>
              <a:spcBef>
                <a:spcPts val="800"/>
              </a:spcBef>
              <a:defRPr sz="1400">
                <a:solidFill>
                  <a:srgbClr val="F0F4F8"/>
                </a:solidFill>
              </a:defRPr>
            </a:pPr>
            <a:r>
              <a:t>• Production deployment guides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0" y="164592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4F8"/>
                </a:solidFill>
                <a:latin typeface="Arial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4FF"/>
                </a:solidFill>
                <a:latin typeface="Arial"/>
              </a:defRPr>
            </a:pPr>
            <a:r>
              <a:t>Now go build AI systems that actually remember 🧠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291840"/>
            <a:ext cx="2743200" cy="4572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9AA"/>
                </a:solidFill>
                <a:latin typeface="Arial"/>
              </a:defRPr>
            </a:pPr>
            <a:r>
              <a:t>Tim Warner | @TechTrainerTim | timothywarner.com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