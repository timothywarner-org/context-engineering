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basics. Most learners underestimate how constrained context really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Context Engineering with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ADCFC"/>
                </a:solidFill>
                <a:latin typeface="Calibri"/>
              </a:defRPr>
            </a:pPr>
            <a:r>
              <a:t>Build AI Systems That Actually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Tim Warner | Microsoft MVP | O'Reilly Live Training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Tim Warner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Based in Nashville, TN, US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Microsoft tech specialist and trainer since 1997 (Windows NT 4.0)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Microsoft Certified Trainer (MCT)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Microsoft MVP in Azure AI &amp; Cloud/Datacenter Management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200+ courses on Pluralsight, 1M+ learners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Contact: techtrainertim.com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Course Flow (4 Segments × 50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Segment 1: All About Context — Token economics, memory types, why AI forgets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Segment 2: All About MCP — Protocol deep-dive with FastMCP, tools, resources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Segment 3: Semantic Memory Stores — JSON → SQLite/NetworkX → ChromaDB → Azure AI Search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Segment 4: Production Clients — Claude Desktop, VS Code, Copilot, LangGraph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10-minute breaks between segments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Hands-on labs throughout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Course Materials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GitHub Repo: github.com/timothywarner-org/context-engineering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MCP Specification: modelcontextprotocol.io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FastMCP Docs: github.com/jlowin/fastmcp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Short link: timw.info/context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CADCFC"/>
                </a:solidFill>
                <a:latin typeface="Calibri"/>
              </a:defRPr>
            </a:pPr>
            <a:r>
              <a:t>"The difference between a helpful AI assistant and a transformative AI partner is memory. Without persistent context, every conversation starts from zero."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— The Context Engineering Manifesto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Arial Black"/>
              </a:defRPr>
            </a:pPr>
            <a:r>
              <a:t>SEGMENT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All About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ADCFC"/>
                </a:solidFill>
                <a:latin typeface="Calibri"/>
              </a:defRPr>
            </a:pPr>
            <a:r>
              <a:t>Why Your AI Has Amnesia — And How to Fix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What is a Context Window?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The AI's 'working memory' — everything visible during generation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Measured in tokens (~0.75 words, ~4 characters per token)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Includes: System prompt + conversation history + tools + output buffer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When full, oldest content gets pushed out (FIFO amnesia)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The fundamental constraint that shapes all AI system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Context Windows in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Claude Sonnet/Opus: 200K tokens ($3-15/M input)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GPT-4o: 128K tokens ($2.50/M input)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Gemini 2.0: 2M tokens ($0.075/M input)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Llama 4: 10M tokens (coming soon)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Bigger isn't always better — quality degrades with length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The Context Budget Formula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10515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What you THINK you have:</a:t>
            </a:r>
            <a:br/>
            <a:r>
              <a:t>max_tokens = 200_000  # Claude Sonnet 4</a:t>
            </a:r>
            <a:br/>
            <a:br/>
            <a:r>
              <a:t># What you ACTUALLY have:</a:t>
            </a:r>
            <a:br/>
            <a:r>
              <a:t>system_prompt     = 5_000   # Instructions, rules</a:t>
            </a:r>
            <a:br/>
            <a:r>
              <a:t>output_buffer     = 8_000   # Response generation</a:t>
            </a:r>
            <a:br/>
            <a:r>
              <a:t>safety_margin     = 10_000  # Avoid edge cases</a:t>
            </a:r>
            <a:br/>
            <a:r>
              <a:t>tool_definitions  = 15_000  # MCP servers add up!</a:t>
            </a:r>
            <a:br/>
            <a:r>
              <a:t>conversation_hist = 50_000  # Previous turns</a:t>
            </a:r>
            <a:br/>
            <a:br/>
            <a:r>
              <a:t>available = 200K - 5K - 8K - 10K - 15K - 50K</a:t>
            </a:r>
            <a:br/>
            <a:r>
              <a:t># = 112,000 tokens for YOUR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The Four Types of Context Loss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C39A"/>
                </a:solidFill>
                <a:latin typeface="Calibri"/>
              </a:defRPr>
            </a:pPr>
            <a:r>
              <a:t>Window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Oldest messages pushed out as new ones arrive.</a:t>
            </a:r>
            <a:br/>
            <a:r>
              <a:t>Happens in long conversations.</a:t>
            </a:r>
            <a:br/>
            <a:r>
              <a:t>→ Solution: Selective retention + importance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Session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Complete reset between sessions.</a:t>
            </a:r>
            <a:br/>
            <a:r>
              <a:t>User returns next day — AI remembers nothing.</a:t>
            </a:r>
            <a:br/>
            <a:r>
              <a:t>→ Solution: Persistent memory 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8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DCFC"/>
                </a:solidFill>
                <a:latin typeface="Calibri"/>
              </a:defRPr>
            </a:pPr>
            <a:r>
              <a:t>Attention Dilution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Context exists but gets 'lost in the noise'.</a:t>
            </a:r>
            <a:br/>
            <a:r>
              <a:t>Model focuses on wrong parts.</a:t>
            </a:r>
            <a:br/>
            <a:r>
              <a:t>→ Solution: Strategic context organization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Compression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Summarization loses critical details.</a:t>
            </a:r>
            <a:br/>
            <a:r>
              <a:t>Trade-off between length and fidelity.</a:t>
            </a:r>
            <a:br/>
            <a:r>
              <a:t>→ Solution: Hierarchical memory + smart retrieval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The 'Lost in the Middle'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LLMs weigh beginning and end of context more heavily (primacy + recency bias)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Critical information in the middle gets undervalued — even if it fits!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Studies show performance drops 15-30% for middle-positioned facts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Solution: Put important context at START or END of your prompts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Better solution: Use memory systems to surface relevant context dynamically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Why RAG Isn't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C39A"/>
                </a:solidFill>
                <a:latin typeface="Calibri"/>
              </a:defRPr>
            </a:pPr>
            <a:r>
              <a:t>RAG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One-shot retrieval (no iteration)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No write-back capability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Static chunk boundaries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No learning from interactions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Retrieval ≠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6167"/>
                </a:solidFill>
                <a:latin typeface="Calibri"/>
              </a:defRPr>
            </a:pPr>
            <a:r>
              <a:t>What We Actually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Working Memory (current session)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Episodic Memory (past conversations)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Semantic Memory (knowledge base)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Procedural Memory (learned patterns)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Memory ≠ Retrieval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The Four Memory Types in AI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C39A"/>
                </a:solidFill>
                <a:latin typeface="Calibri"/>
              </a:defRPr>
            </a:pPr>
            <a:r>
              <a:t>WORKING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'What am I doing right now?'</a:t>
            </a:r>
            <a:br/>
            <a:r>
              <a:t>Context window, in-memory cache.</a:t>
            </a:r>
            <a:br/>
            <a:r>
              <a:t>Current task state, active prompts.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EPISODIC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'What happened last time?'</a:t>
            </a:r>
            <a:br/>
            <a:r>
              <a:t>Conversation history, session summaries.</a:t>
            </a:r>
            <a:br/>
            <a:r>
              <a:t>Stored with timestamps and threads.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8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DCFC"/>
                </a:solidFill>
                <a:latin typeface="Calibri"/>
              </a:defRPr>
            </a:pPr>
            <a:r>
              <a:t>SEMANTIC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'What do I know as facts?'</a:t>
            </a:r>
            <a:br/>
            <a:r>
              <a:t>Knowledge bases, vector stores.</a:t>
            </a:r>
            <a:br/>
            <a:r>
              <a:t>Facts learned from interactions.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303520" cy="2286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PROCEDURAL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'How do I do things?'</a:t>
            </a:r>
            <a:br/>
            <a:r>
              <a:t>System prompts, tool sequences.</a:t>
            </a:r>
            <a:br/>
            <a:r>
              <a:t>Learned behavioral patterns.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ADCFC"/>
                </a:solidFill>
                <a:latin typeface="Calibri"/>
              </a:defRPr>
            </a:pPr>
            <a:r>
              <a:t>"Context Engineering is the systematic design of what information an AI can access, remember, and utilize across interactions.</a:t>
            </a:r>
            <a:br/>
            <a:br/>
            <a:r>
              <a:t>It's Capture → Store → Retrieve — done right."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— Our Working Definition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The Three Pillars of Context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3566160" cy="4572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2C39A"/>
                </a:solidFill>
                <a:latin typeface="Arial Black"/>
              </a:defRPr>
            </a:pPr>
            <a:r>
              <a:t>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Decide WHAT to preserve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Importance scoring, entity extraction, decision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71600"/>
            <a:ext cx="3566160" cy="4572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6167"/>
                </a:solidFill>
                <a:latin typeface="Arial Black"/>
              </a:defRPr>
            </a:pPr>
            <a:r>
              <a:t>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Decide WHERE and 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1089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JSON → SQLite → Vectors → Cloud (choose your adventure)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71600"/>
            <a:ext cx="3566160" cy="45720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ADCFC"/>
                </a:solidFill>
                <a:latin typeface="Arial Black"/>
              </a:defRPr>
            </a:pPr>
            <a: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Decide WHEN and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1089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Semantic search, recency, relevance ranking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Arial Black"/>
              </a:defRPr>
            </a:pPr>
            <a:r>
              <a:t>SEGMENT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All About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ADCFC"/>
                </a:solidFill>
                <a:latin typeface="Calibri"/>
              </a:defRPr>
            </a:pPr>
            <a:r>
              <a:t>The Universal Protocol for AI 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Model Context Protocol (MCP)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Open standard created by Anthropic, adopted by OpenAI &amp; Google (Dec 2025)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Now under the Linux Foundation's Agentic AI Foundation (AAIF)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JSON-RPC 2.0 based protocol for AI ↔ tool communication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Three primitives: Tools (actions), Resources (data), Prompts (templates)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One protocol, every client — Claude, Copilot, VS Code, custom agents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The USB-C of AI integrations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MCP's Three Primitives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10515600" cy="155448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C39A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Model-controlled functions the AI can invoke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store_memory(), search(), execute()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08960"/>
            <a:ext cx="10515600" cy="155448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Application-controlled data the AI can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memory://stats, file://config.json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46320"/>
            <a:ext cx="10515600" cy="155448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DCFC"/>
                </a:solidFill>
                <a:latin typeface="Calibri"/>
              </a:defRPr>
            </a:pPr>
            <a:r>
              <a:t>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User-controlled templates for common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/summarize, /remember, /context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MCP Transport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C39A"/>
                </a:solidFill>
                <a:latin typeface="Calibri"/>
              </a:defRPr>
            </a:pPr>
            <a:r>
              <a:t>Local (stdio)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Process spawned by client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Communication via stdin/stdout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Zero network latency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Excellent security (sandboxed)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Best for: dev tools, local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6167"/>
                </a:solidFill>
                <a:latin typeface="Calibri"/>
              </a:defRPr>
            </a:pPr>
            <a:r>
              <a:t>Remote (HTTP+SSE)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Server running anywhere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SSE for server → client streaming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POST for client → server calls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Requires TLS in production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Best for: shared memory, teams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FastMCP: Python-First MCP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The Flask/FastAPI of MCP development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Pythonic decorators for tools, resources, prompts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Built-in Pydantic validation with automatic schema generation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Development server with hot reload included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Type hints become JSON Schema automatically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From idea to working MCP server in 5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Your First FastMCP 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from fastmcp import FastMCP</a:t>
            </a:r>
            <a:br/>
            <a:r>
              <a:t>from pydantic import BaseModel, Field</a:t>
            </a:r>
            <a:br/>
            <a:br/>
            <a:r>
              <a:t>mcp = FastMCP("memory-server")</a:t>
            </a:r>
            <a:br/>
            <a:br/>
            <a:r>
              <a:t>class MemoryInput(BaseModel):</a:t>
            </a:r>
            <a:br/>
            <a:r>
              <a:t>    content: str = Field(..., description="Content to remember")</a:t>
            </a:r>
            <a:br/>
            <a:r>
              <a:t>    importance: int = Field(default=5, ge=1, le=10)</a:t>
            </a:r>
            <a:br/>
            <a:br/>
            <a:r>
              <a:t>@mcp.tool()</a:t>
            </a:r>
            <a:br/>
            <a:r>
              <a:t>async def store_memory(params: MemoryInput) -&gt; str:</a:t>
            </a:r>
            <a:br/>
            <a:r>
              <a:t>    """Store information for later retrieval."""</a:t>
            </a:r>
            <a:br/>
            <a:r>
              <a:t>    memory_id = save_to_store(params.content, params.importance)</a:t>
            </a:r>
            <a:br/>
            <a:r>
              <a:t>    return f"Stored as {memory_id}"</a:t>
            </a:r>
            <a:br/>
            <a:br/>
            <a:r>
              <a:t>@mcp.resource("memory://stats")</a:t>
            </a:r>
            <a:br/>
            <a:r>
              <a:t>async def get_stats() -&gt; str:</a:t>
            </a:r>
            <a:br/>
            <a:r>
              <a:t>    """Memory system statistics."""</a:t>
            </a:r>
            <a:br/>
            <a:r>
              <a:t>    return json.dumps({"total": count_memories()})</a:t>
            </a:r>
            <a:br/>
            <a:br/>
            <a:r>
              <a:t>if __name__ == "__main__":</a:t>
            </a:r>
            <a:br/>
            <a:r>
              <a:t>    mcp.run()  # That's it!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MCP Tool Annotations (2025 Spec)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@mcp.tool(</a:t>
            </a:r>
            <a:br/>
            <a:r>
              <a:t>    name="store_memory",</a:t>
            </a:r>
            <a:br/>
            <a:r>
              <a:t>    annotations={</a:t>
            </a:r>
            <a:br/>
            <a:r>
              <a:t>        "title": "Store Memory",       # Human-readable name</a:t>
            </a:r>
            <a:br/>
            <a:r>
              <a:t>        "readOnlyHint": False,         # Modifies state</a:t>
            </a:r>
            <a:br/>
            <a:r>
              <a:t>        "destructiveHint": False,      # Not dangerous</a:t>
            </a:r>
            <a:br/>
            <a:r>
              <a:t>        "idempotentHint": False,       # Not safe to retry</a:t>
            </a:r>
            <a:br/>
            <a:r>
              <a:t>        "openWorldHint": True,         # Accesses external systems</a:t>
            </a:r>
            <a:br/>
            <a:r>
              <a:t>    }</a:t>
            </a:r>
            <a:br/>
            <a:r>
              <a:t>)</a:t>
            </a:r>
            <a:br/>
            <a:r>
              <a:t>async def store_memory(params: MemoryInput) -&gt; str:</a:t>
            </a:r>
            <a:br/>
            <a:r>
              <a:t>    """Store information for future retrieval.</a:t>
            </a:r>
            <a:br/>
            <a:br/>
            <a:r>
              <a:t>    Use this tool to save important facts, user preferences,</a:t>
            </a:r>
            <a:br/>
            <a:r>
              <a:t>    decisions, or any content that should persist across sessions.</a:t>
            </a:r>
            <a:br/>
            <a:r>
              <a:t>    """</a:t>
            </a:r>
            <a:br/>
            <a:r>
              <a:t>    # Implementation...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Testing with MCP Inspector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Essential for development — don't skip this!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Visual tool for exploring and debugging MCP servers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Launch: npx @anthropic/mcp-inspector python server.py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See all tools, resources, prompts with their schemas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Test tool calls interactively with live results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Inspect raw JSON-RPC messages for debugging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Hello World with Node.js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// server.js</a:t>
            </a:r>
            <a:br/>
            <a:r>
              <a:t>import { Server } from "@modelcontextprotocol/sdk/server/index.js";</a:t>
            </a:r>
            <a:br/>
            <a:r>
              <a:t>import { StdioServerTransport } from "@modelcontextprotocol/sdk/server/stdio.js";</a:t>
            </a:r>
            <a:br/>
            <a:br/>
            <a:r>
              <a:t>const server = new Server(</a:t>
            </a:r>
            <a:br/>
            <a:r>
              <a:t>  { name: "hello-mcp", version: "1.0.0" },</a:t>
            </a:r>
            <a:br/>
            <a:r>
              <a:t>  { capabilities: { tools: {}, resources: {} } }</a:t>
            </a:r>
            <a:br/>
            <a:r>
              <a:t>);</a:t>
            </a:r>
            <a:br/>
            <a:br/>
            <a:r>
              <a:t>server.setRequestHandler("tools/list", async () =&gt; ({</a:t>
            </a:r>
            <a:br/>
            <a:r>
              <a:t>  tools: [{</a:t>
            </a:r>
            <a:br/>
            <a:r>
              <a:t>    name: "echo",</a:t>
            </a:r>
            <a:br/>
            <a:r>
              <a:t>    description: "Echoes back your message",</a:t>
            </a:r>
            <a:br/>
            <a:r>
              <a:t>    inputSchema: { type: "object", properties: {</a:t>
            </a:r>
            <a:br/>
            <a:r>
              <a:t>      message: { type: "string" } }, required: ["message"] }</a:t>
            </a:r>
            <a:br/>
            <a:r>
              <a:t>  }]</a:t>
            </a:r>
            <a:br/>
            <a:r>
              <a:t>}));</a:t>
            </a:r>
            <a:br/>
            <a:br/>
            <a:r>
              <a:t>server.setRequestHandler("tools/call", async (req) =&gt; ({</a:t>
            </a:r>
            <a:br/>
            <a:r>
              <a:t>  content: [{ type: "text", text: \`Echo: \${req.params.arguments.message}\` }]</a:t>
            </a:r>
            <a:br/>
            <a:r>
              <a:t>}));</a:t>
            </a:r>
            <a:br/>
            <a:br/>
            <a:r>
              <a:t>const transport = new StdioServerTransport();</a:t>
            </a:r>
            <a:br/>
            <a:r>
              <a:t>await server.connect(transport);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Arial Black"/>
              </a:defRPr>
            </a:pPr>
            <a:r>
              <a:t>SEGMENT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Semantic Memory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ADCFC"/>
                </a:solidFill>
                <a:latin typeface="Calibri"/>
              </a:defRPr>
            </a:pPr>
            <a:r>
              <a:t>From Prototype to Production-Scale Memory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The Memory Storage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Start simple, scale when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651760" cy="41148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JSON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Zero dependencies, instant setup</a:t>
            </a:r>
            <a:br/>
            <a:r>
              <a:t>Perfect for &lt;1000 memories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651760" cy="41148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6167"/>
                </a:solidFill>
                <a:latin typeface="Calibri"/>
              </a:defRPr>
            </a:pPr>
            <a:r>
              <a:t>SQLite + NetworkX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6517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Structured queries + graph algos</a:t>
            </a:r>
            <a:br/>
            <a:r>
              <a:t>Knowledge Graph with triplet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2651760" cy="41148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ADCFC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Vector embeddings, semantic search</a:t>
            </a:r>
            <a:br/>
            <a:r>
              <a:t>Best for dev/test with similarity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828800"/>
            <a:ext cx="2651760" cy="4114800"/>
          </a:xfrm>
          <a:prstGeom prst="roundRect">
            <a:avLst/>
          </a:prstGeom>
          <a:solidFill>
            <a:srgbClr val="2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Calibri"/>
              </a:defRPr>
            </a:pPr>
            <a:r>
              <a:t>Azure AI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6517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Enterprise vectors, managed infra</a:t>
            </a:r>
            <a:br/>
            <a:r>
              <a:t>Production scale with full text + semantic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Consolas"/>
              </a:defRPr>
            </a:pPr>
            <a:r>
              <a:t>Simple ←───────────────────────────────────────────────────────→ Powerful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JSON Memory 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app/adapters/json_store.py — Schematica's simplest backend</a:t>
            </a:r>
            <a:br/>
            <a:r>
              <a:t>class RawJsonStore(MemoryStore):</a:t>
            </a:r>
            <a:br/>
            <a:r>
              <a:t>    """Memory store backed by raw JSON files.</a:t>
            </a:r>
            <a:br/>
            <a:r>
              <a:t>    Semantic search falls back to keyword matching."""</a:t>
            </a:r>
            <a:br/>
            <a:br/>
            <a:r>
              <a:t>    def __init__(self, json_path: Optional[Path] = None):</a:t>
            </a:r>
            <a:br/>
            <a:r>
              <a:t>        self.json_path = json_path or settings.json_path</a:t>
            </a:r>
            <a:br/>
            <a:r>
              <a:t>        self._schematics: Dict[str, Schematic] = {}</a:t>
            </a:r>
            <a:br/>
            <a:r>
              <a:t>        self._hits: deque[RetrievalHit] = deque(maxlen=100)</a:t>
            </a:r>
            <a:br/>
            <a:r>
              <a:t>        self._load_schematics()</a:t>
            </a:r>
            <a:br/>
            <a:br/>
            <a:r>
              <a:t>    def _keyword_score(self, schematic: Schematic, query: str) -&gt; float:</a:t>
            </a:r>
            <a:br/>
            <a:r>
              <a:t>        """Simple keyword-based relevance score."""</a:t>
            </a:r>
            <a:br/>
            <a:r>
              <a:t>        query_lower = query.lower()</a:t>
            </a:r>
            <a:br/>
            <a:r>
              <a:t>        text = schematic.to_embed_text().lower()</a:t>
            </a:r>
            <a:br/>
            <a:r>
              <a:t>        matches = sum(1 for word in query_lower.split() if word in text)</a:t>
            </a:r>
            <a:br/>
            <a:r>
              <a:t>        phrase_bonus = 0.2 if query_lower in text else 0.0</a:t>
            </a:r>
            <a:br/>
            <a:r>
              <a:t>        return min(1.0, matches / max(len(query_lower.split()), 1) + phrase_bonus)</a:t>
            </a:r>
            <a:br/>
            <a:br/>
            <a:r>
              <a:t>    async def semantic_search(self, query: str, filters: dict = None,</a:t>
            </a:r>
            <a:br/>
            <a:r>
              <a:t>                              top_k: int = 5) -&gt; List[SearchResult]:</a:t>
            </a:r>
            <a:br/>
            <a:r>
              <a:t>        scored = [(s, self._keyword_score(s, query)) for s in self._schematics.values()]</a:t>
            </a:r>
            <a:br/>
            <a:r>
              <a:t>        scored = [(s, score) for s, score in scored if score &gt; 0]</a:t>
            </a:r>
            <a:br/>
            <a:r>
              <a:t>        scored.sort(key=lambda x: x[1], reverse=True)</a:t>
            </a:r>
            <a:br/>
            <a:r>
              <a:t>        return [SearchResult(schematic=s, score=score) for s, score in scored[:top_k]]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SQLite + NetworkX Knowledge Graph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app/adapters/graph_store.py — Schematica's Knowledge Graph</a:t>
            </a:r>
            <a:br/>
            <a:r>
              <a:t>class GraphStore:</a:t>
            </a:r>
            <a:br/>
            <a:r>
              <a:t>    """SQLite-backed triplet store with NetworkX for graph algorithms."""</a:t>
            </a:r>
            <a:br/>
            <a:br/>
            <a:r>
              <a:t>    def __init__(self, db_path: Path = None):</a:t>
            </a:r>
            <a:br/>
            <a:r>
              <a:t>        self.db_path = db_path or Path("data/graph/knowledge.db")</a:t>
            </a:r>
            <a:br/>
            <a:r>
              <a:t>        self._local = threading.local()  # Thread-safe connections</a:t>
            </a:r>
            <a:br/>
            <a:r>
              <a:t>        self._graph: nx.DiGraph = nx.DiGraph()</a:t>
            </a:r>
            <a:br/>
            <a:r>
              <a:t>        self._init_db()</a:t>
            </a:r>
            <a:br/>
            <a:r>
              <a:t>        self._load_graph()  # Sync SQLite -&gt; NetworkX on startup</a:t>
            </a:r>
            <a:br/>
            <a:br/>
            <a:r>
              <a:t>    async def add_relationship(self, rel: Relationship) -&gt; bool:</a:t>
            </a:r>
            <a:br/>
            <a:r>
              <a:t>        """Add triplet to SQLite + NetworkX in one operation."""</a:t>
            </a:r>
            <a:br/>
            <a:r>
              <a:t>        with self._get_connection() as conn:</a:t>
            </a:r>
            <a:br/>
            <a:r>
              <a:t>            conn.execute("""INSERT OR IGNORE INTO triplets</a:t>
            </a:r>
            <a:br/>
            <a:r>
              <a:t>                (subject, predicate, object) VALUES (?, ?, ?)""",</a:t>
            </a:r>
            <a:br/>
            <a:r>
              <a:t>                (rel.subject, rel.predicate, rel.object))</a:t>
            </a:r>
            <a:br/>
            <a:r>
              <a:t>        self._graph.add_edge(rel.subject, rel.object, predicate=rel.predicate)</a:t>
            </a:r>
            <a:br/>
            <a:r>
              <a:t>        return True</a:t>
            </a:r>
            <a:br/>
            <a:br/>
            <a:r>
              <a:t>    async def get_neighbors(self, entity_id: str, direction="both") -&gt; list:</a:t>
            </a:r>
            <a:br/>
            <a:r>
              <a:t>        """1-hop traversal using NetworkX's fast graph ops."""</a:t>
            </a:r>
            <a:br/>
            <a:r>
              <a:t>        neighbors = set()</a:t>
            </a:r>
            <a:br/>
            <a:r>
              <a:t>        if direction in ("outgoing", "both"):</a:t>
            </a:r>
            <a:br/>
            <a:r>
              <a:t>            neighbors.update(self._graph.successors(entity_id))</a:t>
            </a:r>
            <a:br/>
            <a:r>
              <a:t>        if direction in ("incoming", "both"):</a:t>
            </a:r>
            <a:br/>
            <a:r>
              <a:t>            neighbors.update(self._graph.predecessors(entity_id))</a:t>
            </a:r>
            <a:br/>
            <a:r>
              <a:t>        return list(neighbors)</a:t>
            </a:r>
            <a:br/>
            <a:br/>
            <a:r>
              <a:t>    async def shortest_path(self, source: str, target: str) -&gt; list:</a:t>
            </a:r>
            <a:br/>
            <a:r>
              <a:t>        return nx.shortest_path(self._graph.to_undirected(), source, target)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Why Vector Search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Traditional search: 'find python' → exact keyword match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Vector search: 'find programming tips' → returns Python, JS, coding best practices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Embeddings convert text to high-dimensional vectors (768-3072 dimensions)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Similar meanings cluster together in vector space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Cosine similarity finds semantically related content, not just keywords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The leap from matching to understanding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ChromaDB Semantic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app/adapters/chroma_store.py — Schematica's vector layer</a:t>
            </a:r>
            <a:br/>
            <a:r>
              <a:t>class ChromaMemoryStore(MemoryStore):</a:t>
            </a:r>
            <a:br/>
            <a:r>
              <a:t>    """Chroma vectors with JSON as source of truth."""</a:t>
            </a:r>
            <a:br/>
            <a:br/>
            <a:r>
              <a:t>    def __init__(self, chroma_path: Path = None, json_path: Path = None):</a:t>
            </a:r>
            <a:br/>
            <a:r>
              <a:t>        self.chroma_path = chroma_path or settings.chroma_path</a:t>
            </a:r>
            <a:br/>
            <a:r>
              <a:t>        self.json_store = RawJsonStore(json_path)  # JSON = source of truth</a:t>
            </a:r>
            <a:br/>
            <a:r>
              <a:t>        self._collection = None</a:t>
            </a:r>
            <a:br/>
            <a:r>
              <a:t>        self._initialized = False</a:t>
            </a:r>
            <a:br/>
            <a:br/>
            <a:r>
              <a:t>    async def _ensure_initialized(self) -&gt; None:</a:t>
            </a:r>
            <a:br/>
            <a:r>
              <a:t>        if self._initialized: return</a:t>
            </a:r>
            <a:br/>
            <a:r>
              <a:t>        self._client = chromadb.PersistentClient(path=str(self.chroma_path))</a:t>
            </a:r>
            <a:br/>
            <a:r>
              <a:t>        self._collection = self._client.get_or_create_collection(</a:t>
            </a:r>
            <a:br/>
            <a:r>
              <a:t>            name="warnerco_schematics",</a:t>
            </a:r>
            <a:br/>
            <a:r>
              <a:t>            metadata={"description": "WARNERCO robot schematics embeddings"},</a:t>
            </a:r>
            <a:br/>
            <a:r>
              <a:t>        )</a:t>
            </a:r>
            <a:br/>
            <a:r>
              <a:t>        self._initialized = True</a:t>
            </a:r>
            <a:br/>
            <a:br/>
            <a:r>
              <a:t>    async def semantic_search(self, query: str, filters: dict = None,</a:t>
            </a:r>
            <a:br/>
            <a:r>
              <a:t>                              top_k: int = 5) -&gt; List[SearchResult]:</a:t>
            </a:r>
            <a:br/>
            <a:r>
              <a:t>        await self._ensure_initialized()</a:t>
            </a:r>
            <a:br/>
            <a:r>
              <a:t>        results = self._collection.query(</a:t>
            </a:r>
            <a:br/>
            <a:r>
              <a:t>            query_texts=[query], n_results=top_k,</a:t>
            </a:r>
            <a:br/>
            <a:r>
              <a:t>            include=["documents", "metadatas", "distances"],</a:t>
            </a:r>
            <a:br/>
            <a:r>
              <a:t>        )</a:t>
            </a:r>
            <a:br/>
            <a:r>
              <a:t>        # Convert L2 distance to similarity score</a:t>
            </a:r>
            <a:br/>
            <a:r>
              <a:t>        return [SearchResult(schematic=await self.json_store.get_schematic(id),</a:t>
            </a:r>
            <a:br/>
            <a:r>
              <a:t>                            score=max(0.0, 1.0 - (dist / 2.0)))</a:t>
            </a:r>
            <a:br/>
            <a:r>
              <a:t>                for id, dist in zip(results["ids"][0], results["distances"][0])]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Azure AI Search: Enterprise-Scale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app/adapters/azure_search_store.py — Schematica production backend</a:t>
            </a:r>
            <a:br/>
            <a:r>
              <a:t>class AzureAiSearchMemoryStore(MemoryStore):</a:t>
            </a:r>
            <a:br/>
            <a:r>
              <a:t>    """Azure AI Search with local JSON as source of truth."""</a:t>
            </a:r>
            <a:br/>
            <a:br/>
            <a:r>
              <a:t>    async def _ensure_initialized(self) -&gt; None:</a:t>
            </a:r>
            <a:br/>
            <a:r>
              <a:t>        from azure.core.credentials import AzureKeyCredential</a:t>
            </a:r>
            <a:br/>
            <a:r>
              <a:t>        from azure.search.documents import SearchClient</a:t>
            </a:r>
            <a:br/>
            <a:r>
              <a:t>        from azure.search.documents.indexes import SearchIndexClient</a:t>
            </a:r>
            <a:br/>
            <a:br/>
            <a:r>
              <a:t>        credential = AzureKeyCredential(settings.azure_search_key)</a:t>
            </a:r>
            <a:br/>
            <a:r>
              <a:t>        self._index_client = SearchIndexClient(</a:t>
            </a:r>
            <a:br/>
            <a:r>
              <a:t>            endpoint=settings.azure_search_endpoint, credential=credential)</a:t>
            </a:r>
            <a:br/>
            <a:r>
              <a:t>        await self._ensure_index()  # Auto-create schema from Pydantic model!</a:t>
            </a:r>
            <a:br/>
            <a:r>
              <a:t>        self._client = SearchClient(</a:t>
            </a:r>
            <a:br/>
            <a:r>
              <a:t>            endpoint=settings.azure_search_endpoint,</a:t>
            </a:r>
            <a:br/>
            <a:r>
              <a:t>            index_name=settings.azure_search_index, credential=credential)</a:t>
            </a:r>
            <a:br/>
            <a:br/>
            <a:r>
              <a:t>    async def semantic_search(self, query: str, filters: dict = None,</a:t>
            </a:r>
            <a:br/>
            <a:r>
              <a:t>                              top_k: int = 5) -&gt; List[SearchResult]:</a:t>
            </a:r>
            <a:br/>
            <a:r>
              <a:t>        # Build OData filter from dict</a:t>
            </a:r>
            <a:br/>
            <a:r>
              <a:t>        filter_expr = self._build_filter(filters) if filters else None</a:t>
            </a:r>
            <a:br/>
            <a:r>
              <a:t>        results = self._client.search(</a:t>
            </a:r>
            <a:br/>
            <a:r>
              <a:t>            search_text=query, filter=filter_expr,</a:t>
            </a:r>
            <a:br/>
            <a:r>
              <a:t>            top=top_k, include_total_count=True)</a:t>
            </a:r>
            <a:br/>
            <a:r>
              <a:t>        return [SearchResult(</a:t>
            </a:r>
            <a:br/>
            <a:r>
              <a:t>            schematic=await self.json_store.get_schematic(r["id"]),</a:t>
            </a:r>
            <a:br/>
            <a:r>
              <a:t>            score=r["@search.score"]) for r in results]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Unified Memory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app/adapters/factory.py — Thread-safe singleton pattern</a:t>
            </a:r>
            <a:br/>
            <a:r>
              <a:t>from app.config import MemoryBackend, settings</a:t>
            </a:r>
            <a:br/>
            <a:br/>
            <a:r>
              <a:t>_memory_store: Optional[MemoryStore] = None</a:t>
            </a:r>
            <a:br/>
            <a:r>
              <a:t>_memory_store_lock = threading.Lock()</a:t>
            </a:r>
            <a:br/>
            <a:br/>
            <a:r>
              <a:t>def get_memory_store() -&gt; MemoryStore:</a:t>
            </a:r>
            <a:br/>
            <a:r>
              <a:t>    """Factory with double-checked locking."""</a:t>
            </a:r>
            <a:br/>
            <a:r>
              <a:t>    global _memory_store</a:t>
            </a:r>
            <a:br/>
            <a:r>
              <a:t>    if _memory_store is not None:</a:t>
            </a:r>
            <a:br/>
            <a:r>
              <a:t>        return _memory_store</a:t>
            </a:r>
            <a:br/>
            <a:br/>
            <a:r>
              <a:t>    with _memory_store_lock:</a:t>
            </a:r>
            <a:br/>
            <a:r>
              <a:t>        if _memory_store is not None:</a:t>
            </a:r>
            <a:br/>
            <a:r>
              <a:t>            return _memory_store</a:t>
            </a:r>
            <a:br/>
            <a:br/>
            <a:r>
              <a:t>        if settings.memory_backend == MemoryBackend.JSON:</a:t>
            </a:r>
            <a:br/>
            <a:r>
              <a:t>            from app.adapters.json_store import RawJsonStore</a:t>
            </a:r>
            <a:br/>
            <a:r>
              <a:t>            _memory_store = RawJsonStore()</a:t>
            </a:r>
            <a:br/>
            <a:r>
              <a:t>        elif settings.memory_backend == MemoryBackend.CHROMA:</a:t>
            </a:r>
            <a:br/>
            <a:r>
              <a:t>            from app.adapters.chroma_store import ChromaMemoryStore</a:t>
            </a:r>
            <a:br/>
            <a:r>
              <a:t>            _memory_store = ChromaMemoryStore()</a:t>
            </a:r>
            <a:br/>
            <a:r>
              <a:t>        elif settings.memory_backend == MemoryBackend.AZURE_SEARCH:</a:t>
            </a:r>
            <a:br/>
            <a:r>
              <a:t>            from app.adapters.azure_search_store import AzureAiSearchMemoryStore</a:t>
            </a:r>
            <a:br/>
            <a:r>
              <a:t>            _memory_store = AzureAiSearchMemoryStore()</a:t>
            </a:r>
            <a:br/>
            <a:br/>
            <a:r>
              <a:t>        return _memory_store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Scratchpad Memory: Session Working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486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app/adapters/scratchpad_store.py — LLM-minimized working memory</a:t>
            </a:r>
            <a:br/>
            <a:r>
              <a:t>class ScratchpadStore:</a:t>
            </a:r>
            <a:br/>
            <a:r>
              <a:t>    """In-memory triplet store with LLM minimization &amp; enrichment."""</a:t>
            </a:r>
            <a:br/>
            <a:br/>
            <a:r>
              <a:t>    def __init__(self, max_tokens: int = 5000, entry_ttl_minutes: int = 60):</a:t>
            </a:r>
            <a:br/>
            <a:r>
              <a:t>        self._entries: Dict[str, ScratchpadEntry] = {}</a:t>
            </a:r>
            <a:br/>
            <a:r>
              <a:t>        self._lock = threading.RLock()</a:t>
            </a:r>
            <a:br/>
            <a:r>
              <a:t>        self._encoding = tiktoken.get_encoding("cl100k_base")  # Token counting</a:t>
            </a:r>
            <a:br/>
            <a:br/>
            <a:r>
              <a:t>    async def write(self, subject: str, predicate: str, object_: str,</a:t>
            </a:r>
            <a:br/>
            <a:r>
              <a:t>                    content: str, minimize: bool = True) -&gt; ScratchpadWriteResult:</a:t>
            </a:r>
            <a:br/>
            <a:r>
              <a:t>        """Store observation with optional LLM minimization."""</a:t>
            </a:r>
            <a:br/>
            <a:r>
              <a:t>        if minimize:</a:t>
            </a:r>
            <a:br/>
            <a:r>
              <a:t>            minimized, orig_tokens, min_tokens = await self._minimize_content(content)</a:t>
            </a:r>
            <a:br/>
            <a:r>
              <a:t>        self._enforce_token_budget(min_tokens)  # Evict oldest if needed</a:t>
            </a:r>
            <a:br/>
            <a:r>
              <a:t>        entry = ScratchpadEntry(id=self._generate_id(), subject=subject,</a:t>
            </a:r>
            <a:br/>
            <a:r>
              <a:t>            predicate=predicate, object_=object_, content=minimized,</a:t>
            </a:r>
            <a:br/>
            <a:r>
              <a:t>            original_tokens=orig_tokens, minimized_tokens=min_tokens)</a:t>
            </a:r>
            <a:br/>
            <a:r>
              <a:t>        self._entries[entry.id] = entry</a:t>
            </a:r>
            <a:br/>
            <a:r>
              <a:t>        return ScratchpadWriteResult(entry=entry, tokens_saved=orig_tokens - min_tokens)</a:t>
            </a:r>
            <a:br/>
            <a:br/>
            <a:r>
              <a:t>    def get_context_for_injection(self, token_budget: int = 1500) -&gt; Tuple[List[str], int]:</a:t>
            </a:r>
            <a:br/>
            <a:r>
              <a:t>        """Format entries for LangGraph injection within budget."""</a:t>
            </a:r>
            <a:br/>
            <a:r>
              <a:t>        return [f"[{e.predicate}] {e.subject} -&gt; {e.object_}: {e.content}"</a:t>
            </a:r>
            <a:br/>
            <a:r>
              <a:t>                for e in sorted(self._entries.values(), key=lambda e: e.created_at, reverse=True)], total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6167"/>
                </a:solidFill>
                <a:latin typeface="Arial Black"/>
              </a:defRPr>
            </a:pPr>
            <a:r>
              <a:t>SEGMENT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MCP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ADCFC"/>
                </a:solidFill>
                <a:latin typeface="Calibri"/>
              </a:defRPr>
            </a:pPr>
            <a:r>
              <a:t>Claude Desktop, VS Code, Copilot &amp; Beyond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MCP Client Landscape (2026)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Claude Desktop — Anthropic's flagship app with full MCP support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Claude Code — Terminal-based coding agent with project-scoped MCP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VS Code — MCP extension + GitHub Copilot integration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Cursor, Windsurf — AI-first IDEs with MCP support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Custom agents — LangChain, LangGraph, Semantic Kernel, your own!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One protocol, endless possibilities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Claude Desktop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029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onsolas"/>
              </a:defRPr>
            </a:pPr>
            <a:r>
              <a:t>~/Library/Application Support/Claude/claude_desktop_config.json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"memory": {</a:t>
            </a:r>
            <a:br/>
            <a:r>
              <a:t>      "command": "python",</a:t>
            </a:r>
            <a:br/>
            <a:r>
              <a:t>      "args": ["-m", "memory_server"],</a:t>
            </a:r>
            <a:br/>
            <a:r>
              <a:t>      "env": {</a:t>
            </a:r>
            <a:br/>
            <a:r>
              <a:t>        "MEMORY_BACKEND": "sqlite",</a:t>
            </a:r>
            <a:br/>
            <a:r>
              <a:t>        "MEMORY_PATH": "~/Documents/claude_memories.db"</a:t>
            </a:r>
            <a:br/>
            <a:r>
              <a:t>      }</a:t>
            </a:r>
            <a:br/>
            <a:r>
              <a:t>    },</a:t>
            </a:r>
            <a:br/>
            <a:r>
              <a:t>    "filesystem": {</a:t>
            </a:r>
            <a:br/>
            <a:r>
              <a:t>      "command": "npx",</a:t>
            </a:r>
            <a:br/>
            <a:r>
              <a:t>      "args": ["-y", "@modelcontextprotocol/server-filesystem",</a:t>
            </a:r>
            <a:br/>
            <a:r>
              <a:t>               "~/Projects"]</a:t>
            </a:r>
            <a:br/>
            <a:r>
              <a:t>    },</a:t>
            </a:r>
            <a:br/>
            <a:r>
              <a:t>    "github": {</a:t>
            </a:r>
            <a:br/>
            <a:r>
              <a:t>      "command": "npx",</a:t>
            </a:r>
            <a:br/>
            <a:r>
              <a:t>      "args": ["-y", "@modelcontextprotocol/server-github"],</a:t>
            </a:r>
            <a:br/>
            <a:r>
              <a:t>      "env": { "GITHUB_TOKEN": "${GITHUB_TOKEN}"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Claude Code: Project-Scoped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// .claude/mcp.json in your project root</a:t>
            </a:r>
            <a:br/>
            <a:r>
              <a:t>{</a:t>
            </a:r>
            <a:br/>
            <a:r>
              <a:t>  "mcpServers": {</a:t>
            </a:r>
            <a:br/>
            <a:r>
              <a:t>    "project-memory": {</a:t>
            </a:r>
            <a:br/>
            <a:r>
              <a:t>      "command": "python",</a:t>
            </a:r>
            <a:br/>
            <a:r>
              <a:t>      "args": ["./tools/memory_server.py"],</a:t>
            </a:r>
            <a:br/>
            <a:r>
              <a:t>      "cwd": "${workspaceFolder}",</a:t>
            </a:r>
            <a:br/>
            <a:r>
              <a:t>      "env": {</a:t>
            </a:r>
            <a:br/>
            <a:r>
              <a:t>        "MEMORY_PATH": ".claude/memories.json"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  <a:br/>
            <a:br/>
            <a:r>
              <a:t>// Usage in Claude Code:</a:t>
            </a:r>
            <a:br/>
            <a:r>
              <a:t>// &gt; Remember that we decided to use FastAPI for the backend</a:t>
            </a:r>
            <a:br/>
            <a:r>
              <a:t>// [Claude stores this decision in project memory]</a:t>
            </a:r>
            <a:br/>
            <a:r>
              <a:t>//</a:t>
            </a:r>
            <a:br/>
            <a:r>
              <a:t>// &gt; What framework did we choose?</a:t>
            </a:r>
            <a:br/>
            <a:r>
              <a:t>// [Claude retrieves: "FastAPI for the backend"]</a:t>
            </a:r>
            <a:br/>
            <a:r>
              <a:t>//</a:t>
            </a:r>
            <a:br/>
            <a:r>
              <a:t>// Memory persists across sessions and can be git-committed!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VS Code + GitHub Copilot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// .vscode/settings.json</a:t>
            </a:r>
            <a:br/>
            <a:r>
              <a:t>{</a:t>
            </a:r>
            <a:br/>
            <a:r>
              <a:t>  "mcp.servers": {</a:t>
            </a:r>
            <a:br/>
            <a:r>
              <a:t>    "workspace-memory": {</a:t>
            </a:r>
            <a:br/>
            <a:r>
              <a:t>      "command": "python",</a:t>
            </a:r>
            <a:br/>
            <a:r>
              <a:t>      "args": ["${workspaceFolder}/tools/memory_server.py"]</a:t>
            </a:r>
            <a:br/>
            <a:r>
              <a:t>    }</a:t>
            </a:r>
            <a:br/>
            <a:r>
              <a:t>  },</a:t>
            </a:r>
            <a:br/>
            <a:r>
              <a:t>  "github.copilot.chat.experimental.mcpServers": true</a:t>
            </a:r>
            <a:br/>
            <a:r>
              <a:t>}</a:t>
            </a:r>
            <a:br/>
            <a:br/>
            <a:r>
              <a:t>// In Copilot Chat:</a:t>
            </a:r>
            <a:br/>
            <a:r>
              <a:t>// @workspace What API patterns have we established?</a:t>
            </a:r>
            <a:br/>
            <a:r>
              <a:t>// → Copilot queries MCP memory for project context</a:t>
            </a:r>
            <a:br/>
            <a:br/>
            <a:r>
              <a:t>// @workspace /remember We're using Repository pattern</a:t>
            </a:r>
            <a:br/>
            <a:r>
              <a:t>// → Stores decision in memory for future reference</a:t>
            </a:r>
            <a:br/>
            <a:br/>
            <a:r>
              <a:t>// MCP tools appear in Copilot's tool picker</a:t>
            </a:r>
            <a:br/>
            <a:r>
              <a:t>// Memory persists across VS Code sessions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LangGraph 7-Node RAG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parse_intent → query_graph → inject_scratchpad → retrieve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→ compress_context → reason → respond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Knowledge Graph enriches context with relationship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Scratchpad provides session-scoped working memory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Intent classification: LOOKUP, DIAGNOSTIC, ANALYTICS, SEARCH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Azure OpenAI for reasoning, fallback stub if unavailable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LangGraph with Knowledge Graph + Scratchpad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# app/langgraph/flow.py - 7-node RAG pipeline</a:t>
            </a:r>
            <a:br/>
            <a:r>
              <a:t>class SchematicaGraph:</a:t>
            </a:r>
            <a:br/>
            <a:r>
              <a:t>    async def _build_graph(self):</a:t>
            </a:r>
            <a:br/>
            <a:r>
              <a:t>        from langgraph.graph import StateGraph, END</a:t>
            </a:r>
            <a:br/>
            <a:r>
              <a:t>        workflow = StateGraph(GraphState)</a:t>
            </a:r>
            <a:br/>
            <a:br/>
            <a:r>
              <a:t>        # Add 7 nodes</a:t>
            </a:r>
            <a:br/>
            <a:r>
              <a:t>        workflow.add_node("parse_intent", parse_intent)</a:t>
            </a:r>
            <a:br/>
            <a:r>
              <a:t>        workflow.add_node("query_graph", query_graph)       # NetworkX</a:t>
            </a:r>
            <a:br/>
            <a:r>
              <a:t>        workflow.add_node("inject_scratchpad", inject_scratchpad)</a:t>
            </a:r>
            <a:br/>
            <a:r>
              <a:t>        workflow.add_node("retrieve", retrieve)             # Vector search</a:t>
            </a:r>
            <a:br/>
            <a:r>
              <a:t>        workflow.add_node("compress_context", compress_context)</a:t>
            </a:r>
            <a:br/>
            <a:r>
              <a:t>        workflow.add_node("reason", reason)                 # Azure OpenAI</a:t>
            </a:r>
            <a:br/>
            <a:r>
              <a:t>        workflow.add_node("respond", respond)</a:t>
            </a:r>
            <a:br/>
            <a:br/>
            <a:r>
              <a:t>        workflow.set_entry_point("parse_intent")</a:t>
            </a:r>
            <a:br/>
            <a:r>
              <a:t>        workflow.add_edge("parse_intent", "query_graph")</a:t>
            </a:r>
            <a:br/>
            <a:r>
              <a:t>        workflow.add_edge("query_graph", "inject_scratchpad")</a:t>
            </a:r>
            <a:br/>
            <a:r>
              <a:t>        # ... full pipeline</a:t>
            </a:r>
            <a:br/>
            <a:r>
              <a:t>        workflow.add_edge("respond", END)</a:t>
            </a:r>
            <a:br/>
            <a:r>
              <a:t>        self._graph = workflow.compile()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Production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51560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149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onsolas"/>
              </a:defRPr>
            </a:pPr>
            <a:r>
              <a:t>from fastapi import FastAPI, Depends, HTTPException</a:t>
            </a:r>
            <a:br/>
            <a:r>
              <a:t>from fastapi.security import HTTPBearer</a:t>
            </a:r>
            <a:br/>
            <a:br/>
            <a:r>
              <a:t>app = FastAPI()</a:t>
            </a:r>
            <a:br/>
            <a:r>
              <a:t>security = HTTPBearer()</a:t>
            </a:r>
            <a:br/>
            <a:br/>
            <a:r>
              <a:t>async def verify_token(credentials = Depends(security)):</a:t>
            </a:r>
            <a:br/>
            <a:r>
              <a:t>    """Verify API key or JWT token."""</a:t>
            </a:r>
            <a:br/>
            <a:r>
              <a:t>    # In prod: validate against Azure AD, Auth0, etc.</a:t>
            </a:r>
            <a:br/>
            <a:r>
              <a:t>    if credentials.credentials not in VALID_TOKENS:</a:t>
            </a:r>
            <a:br/>
            <a:r>
              <a:t>        raise HTTPException(status_code=401)</a:t>
            </a:r>
            <a:br/>
            <a:r>
              <a:t>    return credentials</a:t>
            </a:r>
            <a:br/>
            <a:br/>
            <a:r>
              <a:t>@app.post("/mcp/message", dependencies=[Depends(verify_token)])</a:t>
            </a:r>
            <a:br/>
            <a:r>
              <a:t>async def handle_mcp(request: dict):</a:t>
            </a:r>
            <a:br/>
            <a:r>
              <a:t>    return await mcp.handle_request(request)</a:t>
            </a:r>
            <a:br/>
            <a:br/>
            <a:r>
              <a:t># Also consider:</a:t>
            </a:r>
            <a:br/>
            <a:r>
              <a:t># - Rate limiting per user</a:t>
            </a:r>
            <a:br/>
            <a:r>
              <a:t># - Audit logging for compliance</a:t>
            </a:r>
            <a:br/>
            <a:r>
              <a:t># - Encryption at rest for memories</a:t>
            </a:r>
            <a:br/>
            <a:r>
              <a:t># - Namespace isolation for multi-tenant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Production Deployment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C39A"/>
                </a:solidFill>
                <a:latin typeface="Calibri"/>
              </a:defRPr>
            </a:pPr>
            <a:r>
              <a:t>Local (stdio)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Run as subprocess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No network exposure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Per-user isolation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Best for: desktop apps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Zero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6167"/>
                </a:solidFill>
                <a:latin typeface="Calibri"/>
              </a:defRPr>
            </a:pPr>
            <a:r>
              <a:t>Remote (HTTP+SSE)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Containerized deployment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Shared team memory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Authentication required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Best for: teams, enterprise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Azure Container Apps, Railway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8288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1. Context is finite and expensive — every token costs money and attention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2. MCP standardizes AI ↔ tool communication across all major clients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3. Start with JSON, graduate to SQLite, scale with vectors when needed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4. Memory transforms AI from assistant to partner — deploy it everywhere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5. The three pillars: Capture → Store → Retrieve — done right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 Black"/>
              </a:defRPr>
            </a:pPr>
            <a:r>
              <a:t>Resources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2C39A"/>
                </a:solidFill>
                <a:latin typeface="Calibri"/>
              </a:defRPr>
            </a:pPr>
            <a:r>
              <a:t>Official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modelcontextprotocol.io — MCP spec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docs.anthropic.com — Claude docs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github.com/jlowin/fastmcp — FastMCP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docs.trychroma.com — ChromaDB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learn.microsoft.com/azure/search — Azure AI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6167"/>
                </a:solidFill>
                <a:latin typeface="Calibri"/>
              </a:defRPr>
            </a:pPr>
            <a:r>
              <a:t>Course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github.com/timothywarner-org/context-engineering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WARNERCO Schematica — full working example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LangGraph 7-node RAG pipeline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Azure deployment templates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techtrainertim.com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 Black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ADCFC"/>
                </a:solidFill>
                <a:latin typeface="Calibri"/>
              </a:defRPr>
            </a:pPr>
            <a:r>
              <a:t>Now go build AI systems that actually remember!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0E0"/>
                </a:solidFill>
                <a:latin typeface="Calibri"/>
              </a:defRPr>
            </a:pPr>
            <a:r>
              <a:t>Tim Warner | techtrainertim.com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